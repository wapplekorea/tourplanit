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f30a8c811e47a8" /><Relationship Type="http://schemas.openxmlformats.org/officeDocument/2006/relationships/extended-properties" Target="/docProps/app.xml" Id="Re62c45e4a75c47f9" /><Relationship Type="http://schemas.openxmlformats.org/officeDocument/2006/relationships/officeDocument" Target="/ppt/presentation.xml" Id="Re1661eea3708453c" /></Relationships>
</file>

<file path=ppt/presentation.xml><?xml version="1.0" encoding="utf-8"?>
<p:presentation xmlns:p="http://schemas.openxmlformats.org/presentationml/2006/main">
  <p:sldMasterIdLst>
    <p:sldMasterId xmlns:r="http://schemas.openxmlformats.org/officeDocument/2006/relationships" id="2147483648" r:id="R5968d6073c0140f3"/>
  </p:sldMasterIdLst>
  <p:notesMasterIdLst>
    <p:notesMasterId xmlns:r="http://schemas.openxmlformats.org/officeDocument/2006/relationships" r:id="R49e317e868e3470a"/>
  </p:notesMasterIdLst>
  <p:sldIdLst>
    <p:sldId xmlns:r="http://schemas.openxmlformats.org/officeDocument/2006/relationships" id="256" r:id="R70eb6d54f84a4b20"/>
    <p:sldId xmlns:r="http://schemas.openxmlformats.org/officeDocument/2006/relationships" id="257" r:id="R574436a46ee94645"/>
    <p:sldId xmlns:r="http://schemas.openxmlformats.org/officeDocument/2006/relationships" id="258" r:id="R77c7f763857340f9"/>
    <p:sldId xmlns:r="http://schemas.openxmlformats.org/officeDocument/2006/relationships" id="259" r:id="R40807ca5c6874320"/>
    <p:sldId xmlns:r="http://schemas.openxmlformats.org/officeDocument/2006/relationships" id="260" r:id="Rfe12b2cd5ad44512"/>
    <p:sldId xmlns:r="http://schemas.openxmlformats.org/officeDocument/2006/relationships" id="261" r:id="R1c5769f450d24504"/>
    <p:sldId xmlns:r="http://schemas.openxmlformats.org/officeDocument/2006/relationships" id="262" r:id="Rfb4746133d464d31"/>
    <p:sldId xmlns:r="http://schemas.openxmlformats.org/officeDocument/2006/relationships" id="263" r:id="R1800f514e7e34ad9"/>
    <p:sldId xmlns:r="http://schemas.openxmlformats.org/officeDocument/2006/relationships" id="264" r:id="R22e838e1f9374f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4aebfd49a654cf0" /><Relationship Type="http://schemas.openxmlformats.org/officeDocument/2006/relationships/slideMaster" Target="/ppt/slideMasters/slideMaster1.xml" Id="R5968d6073c0140f3" /><Relationship Type="http://schemas.openxmlformats.org/officeDocument/2006/relationships/notesMaster" Target="/ppt/notesMasters/notesMaster1.xml" Id="R49e317e868e3470a" /><Relationship Type="http://schemas.openxmlformats.org/officeDocument/2006/relationships/presProps" Target="/ppt/presProps.xml" Id="R4de89bfbd9c946b0" /><Relationship Type="http://schemas.openxmlformats.org/officeDocument/2006/relationships/viewProps" Target="/ppt/viewProps.xml" Id="R640d8adc92164e10" /><Relationship Type="http://schemas.openxmlformats.org/officeDocument/2006/relationships/tableStyles" Target="/ppt/tableStyles.xml" Id="R4f0f5075af2740b8" /><Relationship Type="http://schemas.openxmlformats.org/officeDocument/2006/relationships/slide" Target="/ppt/slides/slide1.xml" Id="R70eb6d54f84a4b20" /><Relationship Type="http://schemas.openxmlformats.org/officeDocument/2006/relationships/slide" Target="/ppt/slides/slide2.xml" Id="R574436a46ee94645" /><Relationship Type="http://schemas.openxmlformats.org/officeDocument/2006/relationships/slide" Target="/ppt/slides/slide3.xml" Id="R77c7f763857340f9" /><Relationship Type="http://schemas.openxmlformats.org/officeDocument/2006/relationships/slide" Target="/ppt/slides/slide4.xml" Id="R40807ca5c6874320" /><Relationship Type="http://schemas.openxmlformats.org/officeDocument/2006/relationships/slide" Target="/ppt/slides/slide5.xml" Id="Rfe12b2cd5ad44512" /><Relationship Type="http://schemas.openxmlformats.org/officeDocument/2006/relationships/slide" Target="/ppt/slides/slide6.xml" Id="R1c5769f450d24504" /><Relationship Type="http://schemas.openxmlformats.org/officeDocument/2006/relationships/slide" Target="/ppt/slides/slide7.xml" Id="Rfb4746133d464d31" /><Relationship Type="http://schemas.openxmlformats.org/officeDocument/2006/relationships/slide" Target="/ppt/slides/slide8.xml" Id="R1800f514e7e34ad9" /><Relationship Type="http://schemas.openxmlformats.org/officeDocument/2006/relationships/slide" Target="/ppt/slides/slide9.xml" Id="R22e838e1f9374f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1e4d13a23848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c81fd486fb44ae" /><Relationship Type="http://schemas.openxmlformats.org/officeDocument/2006/relationships/notesMaster" Target="/ppt/notesMasters/notesMaster1.xml" Id="R5359ba224bbf4b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b5f045f9bf4560" /><Relationship Type="http://schemas.openxmlformats.org/officeDocument/2006/relationships/notesMaster" Target="/ppt/notesMasters/notesMaster1.xml" Id="Ra58d368618ba4a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4526d61ba3459b" /><Relationship Type="http://schemas.openxmlformats.org/officeDocument/2006/relationships/notesMaster" Target="/ppt/notesMasters/notesMaster1.xml" Id="R45bdd95536dc44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29de1599224f9d" /><Relationship Type="http://schemas.openxmlformats.org/officeDocument/2006/relationships/notesMaster" Target="/ppt/notesMasters/notesMaster1.xml" Id="Rda535b60564749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6aa961f0d54216" /><Relationship Type="http://schemas.openxmlformats.org/officeDocument/2006/relationships/notesMaster" Target="/ppt/notesMasters/notesMaster1.xml" Id="R967a74813db444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08feffc0924fc1" /><Relationship Type="http://schemas.openxmlformats.org/officeDocument/2006/relationships/notesMaster" Target="/ppt/notesMasters/notesMaster1.xml" Id="R0fb57154aab041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59d291d65941e8" /><Relationship Type="http://schemas.openxmlformats.org/officeDocument/2006/relationships/notesMaster" Target="/ppt/notesMasters/notesMaster1.xml" Id="R3c4da8abcb0342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f8dd8dba6a4396" /><Relationship Type="http://schemas.openxmlformats.org/officeDocument/2006/relationships/notesMaster" Target="/ppt/notesMasters/notesMaster1.xml" Id="Rc55bbaf3c6c54b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a3c55fc8144521" /><Relationship Type="http://schemas.openxmlformats.org/officeDocument/2006/relationships/notesMaster" Target="/ppt/notesMasters/notesMaster1.xml" Id="R7cb9a5168bb042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template: https://drive.google.com/file/d/10fxZ7pK_l1n3TMkWnYQQss8jkM85-hJV/view</a:t>
            </a:r>
          </a:p>
          <a:p xmlns:a="http://schemas.openxmlformats.org/drawingml/2006/main">
            <a:r>
              <a:t>Official notice: https://lowly-polyanthus-1fb.notion.site/2026-3a75dce406e38034a9a8d058a1b55596</a:t>
            </a:r>
          </a:p>
          <a:p xmlns:a="http://schemas.openxmlformats.org/drawingml/2006/main">
            <a:r>
              <a:t>Production service: https://tourplanit.netlify.app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03012341474827" /><Relationship Type="http://schemas.openxmlformats.org/officeDocument/2006/relationships/image" Target="/ppt/media/image.png" Id="R44419c27814042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8de1fd09744b0d" /><Relationship Type="http://schemas.openxmlformats.org/officeDocument/2006/relationships/image" Target="/ppt/media/image2.png" Id="R3b032196fceb49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e7e44b5c584a47" /><Relationship Type="http://schemas.openxmlformats.org/officeDocument/2006/relationships/image" Target="/ppt/media/image3.png" Id="R9e98e68e475d48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26510e36d54a06" /><Relationship Type="http://schemas.openxmlformats.org/officeDocument/2006/relationships/image" Target="/ppt/media/image4.png" Id="Rbbfd8b4b6b2e44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34c0a76cf7425c" /><Relationship Type="http://schemas.openxmlformats.org/officeDocument/2006/relationships/image" Target="/ppt/media/image5.png" Id="R886e2fced8734f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9cb60082ec45a5" /><Relationship Type="http://schemas.openxmlformats.org/officeDocument/2006/relationships/image" Target="/ppt/media/image6.png" Id="Rf80a1b79db4e4dc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b69cdc9c16c4f69" /><Relationship Type="http://schemas.openxmlformats.org/officeDocument/2006/relationships/image" Target="/ppt/media/image7.png" Id="R8ec38b4d558d4c4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a3128df68594952" /><Relationship Type="http://schemas.openxmlformats.org/officeDocument/2006/relationships/image" Target="/ppt/media/image8.png" Id="R86dd933811564b44"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2" name="그림 2"/>
          <p:cNvPicPr>
            <a:picLocks xmlns:a="http://schemas.openxmlformats.org/drawingml/2006/main" noChangeAspect="1"/>
          </p:cNvPicPr>
          <p:nvPr/>
        </p:nvPicPr>
        <p:blipFill>
          <a:blip xmlns:r="http://schemas.openxmlformats.org/officeDocument/2006/relationships" xmlns:a="http://schemas.openxmlformats.org/drawingml/2006/main" r:embed="R44419c27814042b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서비스 소개">
    <p:spTree>
      <p:nvGrpSpPr>
        <p:cNvPr id="1" name=""/>
        <p:cNvGrpSpPr/>
        <p:nvPr/>
      </p:nvGrpSpPr>
      <p:grpSpPr>
        <a:xfrm xmlns:a="http://schemas.openxmlformats.org/drawingml/2006/main"/>
      </p:grpSpPr>
      <p:pic>
        <p:nvPicPr>
          <p:cNvPr id="2" name="그림 1"/>
          <p:cNvPicPr>
            <a:picLocks xmlns:a="http://schemas.openxmlformats.org/drawingml/2006/main" noChangeAspect="1"/>
          </p:cNvPicPr>
          <p:nvPr/>
        </p:nvPicPr>
        <p:blipFill>
          <a:blip xmlns:r="http://schemas.openxmlformats.org/officeDocument/2006/relationships" xmlns:a="http://schemas.openxmlformats.org/drawingml/2006/main" r:embed="R3b032196fceb4907"/>
          <a:stretch xmlns:a="http://schemas.openxmlformats.org/drawingml/2006/main">
            <a:fillRect l="0" t="0" r="0" b="0"/>
          </a:stretch>
        </p:blipFill>
        <p:spPr>
          <a:xfrm xmlns:a="http://schemas.openxmlformats.org/drawingml/2006/main">
            <a:off x="0" y="0"/>
            <a:ext cx="12146070" cy="6801799"/>
          </a:xfrm>
          <a:prstGeom xmlns:a="http://schemas.openxmlformats.org/drawingml/2006/main" prst="rect">
            <a:avLst/>
          </a:prstGeom>
        </p:spPr>
      </p:pic>
    </p:spTree>
  </p:cSld>
</p:sldLayout>
</file>

<file path=ppt/slideLayouts/slideLayout3.xml><?xml version="1.0" encoding="utf-8"?>
<p:sldLayout xmlns:p="http://schemas.openxmlformats.org/presentationml/2006/main" type="blank" preserve="1">
  <p:cSld name="해시태그 연계 핵심 기능별 흐름도">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9e98e68e475d48dd"/>
          <a:stretch xmlns:a="http://schemas.openxmlformats.org/drawingml/2006/main">
            <a:fillRect l="0" t="0" r="0" b="0"/>
          </a:stretch>
        </p:blipFill>
        <p:spPr>
          <a:xfrm xmlns:a="http://schemas.openxmlformats.org/drawingml/2006/main">
            <a:off x="0" y="0"/>
            <a:ext cx="12146070" cy="6820852"/>
          </a:xfrm>
          <a:prstGeom xmlns:a="http://schemas.openxmlformats.org/drawingml/2006/main" prst="rect">
            <a:avLst/>
          </a:prstGeom>
        </p:spPr>
      </p:pic>
    </p:spTree>
  </p:cSld>
</p:sldLayout>
</file>

<file path=ppt/slideLayouts/slideLayout4.xml><?xml version="1.0" encoding="utf-8"?>
<p:sldLayout xmlns:p="http://schemas.openxmlformats.org/presentationml/2006/main" type="blank" preserve="1">
  <p:cSld name="서비스 관련 이미지">
    <p:spTree>
      <p:nvGrpSpPr>
        <p:cNvPr id="1" name=""/>
        <p:cNvGrpSpPr/>
        <p:nvPr/>
      </p:nvGrpSpPr>
      <p:grpSpPr>
        <a:xfrm xmlns:a="http://schemas.openxmlformats.org/drawingml/2006/main"/>
      </p:grpSpPr>
      <p:pic>
        <p:nvPicPr>
          <p:cNvPr id="2" name="그림 9"/>
          <p:cNvPicPr>
            <a:picLocks xmlns:a="http://schemas.openxmlformats.org/drawingml/2006/main" noChangeAspect="1"/>
          </p:cNvPicPr>
          <p:nvPr/>
        </p:nvPicPr>
        <p:blipFill>
          <a:blip xmlns:r="http://schemas.openxmlformats.org/officeDocument/2006/relationships" xmlns:a="http://schemas.openxmlformats.org/drawingml/2006/main" r:embed="Rbbfd8b4b6b2e442d"/>
          <a:stretch xmlns:a="http://schemas.openxmlformats.org/drawingml/2006/main">
            <a:fillRect l="0" t="0" r="0" b="0"/>
          </a:stretch>
        </p:blipFill>
        <p:spPr>
          <a:xfrm xmlns:a="http://schemas.openxmlformats.org/drawingml/2006/main">
            <a:off x="0" y="0"/>
            <a:ext cx="12146070" cy="6849431"/>
          </a:xfrm>
          <a:prstGeom xmlns:a="http://schemas.openxmlformats.org/drawingml/2006/main" prst="rect">
            <a:avLst/>
          </a:prstGeom>
        </p:spPr>
      </p:pic>
    </p:spTree>
  </p:cSld>
</p:sldLayout>
</file>

<file path=ppt/slideLayouts/slideLayout5.xml><?xml version="1.0" encoding="utf-8"?>
<p:sldLayout xmlns:p="http://schemas.openxmlformats.org/presentationml/2006/main" type="blank" preserve="1">
  <p:cSld name="데이터 활용(한국관광공사 OpenAPI)">
    <p:spTree>
      <p:nvGrpSpPr>
        <p:cNvPr id="1" name=""/>
        <p:cNvGrpSpPr/>
        <p:nvPr/>
      </p:nvGrpSpPr>
      <p:grpSpPr>
        <a:xfrm xmlns:a="http://schemas.openxmlformats.org/drawingml/2006/main"/>
      </p:grpSpPr>
      <p:pic>
        <p:nvPicPr>
          <p:cNvPr id="2" name="그림 3"/>
          <p:cNvPicPr>
            <a:picLocks xmlns:a="http://schemas.openxmlformats.org/drawingml/2006/main" noChangeAspect="1"/>
          </p:cNvPicPr>
          <p:nvPr/>
        </p:nvPicPr>
        <p:blipFill>
          <a:blip xmlns:r="http://schemas.openxmlformats.org/officeDocument/2006/relationships" xmlns:a="http://schemas.openxmlformats.org/drawingml/2006/main" r:embed="R886e2fced8734ffc"/>
          <a:stretch xmlns:a="http://schemas.openxmlformats.org/drawingml/2006/main">
            <a:fillRect l="0" t="0" r="0" b="0"/>
          </a:stretch>
        </p:blipFill>
        <p:spPr>
          <a:xfrm xmlns:a="http://schemas.openxmlformats.org/drawingml/2006/main">
            <a:off x="0" y="0"/>
            <a:ext cx="12107965" cy="6830378"/>
          </a:xfrm>
          <a:prstGeom xmlns:a="http://schemas.openxmlformats.org/drawingml/2006/main" prst="rect">
            <a:avLst/>
          </a:prstGeom>
        </p:spPr>
      </p:pic>
    </p:spTree>
  </p:cSld>
</p:sldLayout>
</file>

<file path=ppt/slideLayouts/slideLayout6.xml><?xml version="1.0" encoding="utf-8"?>
<p:sldLayout xmlns:p="http://schemas.openxmlformats.org/presentationml/2006/main" type="blank" preserve="1">
  <p:cSld name="데이터 활용(기타)">
    <p:spTree>
      <p:nvGrpSpPr>
        <p:cNvPr id="1" name=""/>
        <p:cNvGrpSpPr/>
        <p:nvPr/>
      </p:nvGrpSpPr>
      <p:grpSpPr>
        <a:xfrm xmlns:a="http://schemas.openxmlformats.org/drawingml/2006/main"/>
      </p:grpSpPr>
      <p:pic>
        <p:nvPicPr>
          <p:cNvPr id="2" name="그림 3"/>
          <p:cNvPicPr>
            <a:picLocks xmlns:a="http://schemas.openxmlformats.org/drawingml/2006/main" noChangeAspect="1"/>
          </p:cNvPicPr>
          <p:nvPr/>
        </p:nvPicPr>
        <p:blipFill>
          <a:blip xmlns:r="http://schemas.openxmlformats.org/officeDocument/2006/relationships" xmlns:a="http://schemas.openxmlformats.org/drawingml/2006/main" r:embed="Rf80a1b79db4e4dc9"/>
          <a:stretch xmlns:a="http://schemas.openxmlformats.org/drawingml/2006/main">
            <a:fillRect l="0" t="0" r="0" b="0"/>
          </a:stretch>
        </p:blipFill>
        <p:spPr>
          <a:xfrm xmlns:a="http://schemas.openxmlformats.org/drawingml/2006/main">
            <a:off x="0" y="0"/>
            <a:ext cx="12127017" cy="6820852"/>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서비스 차별성&amp;발전계획">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8ec38b4d558d4c4a"/>
          <a:stretch xmlns:a="http://schemas.openxmlformats.org/drawingml/2006/main">
            <a:fillRect l="0" t="0" r="0" b="0"/>
          </a:stretch>
        </p:blipFill>
        <p:spPr>
          <a:xfrm xmlns:a="http://schemas.openxmlformats.org/drawingml/2006/main">
            <a:off x="0" y="0"/>
            <a:ext cx="12136544" cy="6839905"/>
          </a:xfrm>
          <a:prstGeom xmlns:a="http://schemas.openxmlformats.org/drawingml/2006/main" prst="rect">
            <a:avLst/>
          </a:prstGeom>
        </p:spPr>
      </p:pic>
    </p:spTree>
  </p:cSld>
</p:sldLayout>
</file>

<file path=ppt/slideLayouts/slideLayout8.xml><?xml version="1.0" encoding="utf-8"?>
<p:sldLayout xmlns:p="http://schemas.openxmlformats.org/presentationml/2006/main" type="blank" preserve="1">
  <p:cSld name="1_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A56328CD-49AB-4108-8CD9-2DC30A0002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38FB6A-844E-4645-B6B8-D2945F9927BB}" type="datetimeFigureOut">
              <a:t>2026-08-11</a:t>
            </a:fld>
            <a:endParaRPr/>
          </a:p>
        </p:txBody>
      </p:sp>
      <p:sp>
        <p:nvSpPr>
          <p:cNvPr id="3" name="바닥글 개체 틀 2">
            <a:extLst xmlns:a="http://schemas.openxmlformats.org/drawingml/2006/main">
              <a:ext uri="{FF2B5EF4-FFF2-40B4-BE49-F238E27FC236}">
                <a16:creationId xmlns:a16="http://schemas.microsoft.com/office/drawing/2014/main" id="{F1BB198D-9F6F-4AE3-9815-2EC814F4079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94B95D39-92E9-4C76-ABC8-A6950B9DFA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32701-68F9-4777-ABB9-C14E97591467}" type="slidenum">
              <a:t>‹#›</a:t>
            </a:fld>
            <a:endParaRPr/>
          </a:p>
        </p:txBody>
      </p:sp>
      <p:pic>
        <p:nvPicPr>
          <p:cNvPr id="9" name="그림 4"/>
          <p:cNvPicPr>
            <a:picLocks xmlns:a="http://schemas.openxmlformats.org/drawingml/2006/main" noChangeAspect="1"/>
          </p:cNvPicPr>
          <p:nvPr/>
        </p:nvPicPr>
        <p:blipFill>
          <a:blip xmlns:r="http://schemas.openxmlformats.org/officeDocument/2006/relationships" xmlns:a="http://schemas.openxmlformats.org/drawingml/2006/main" r:embed="R86dd933811564b4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c6ea71537644d2" /><Relationship Type="http://schemas.openxmlformats.org/officeDocument/2006/relationships/slideLayout" Target="/ppt/slideLayouts/slideLayout1.xml" Id="Ra8c304fc02bf4c45" /><Relationship Type="http://schemas.openxmlformats.org/officeDocument/2006/relationships/slideLayout" Target="/ppt/slideLayouts/slideLayout2.xml" Id="Rab95048208774ad3" /><Relationship Type="http://schemas.openxmlformats.org/officeDocument/2006/relationships/slideLayout" Target="/ppt/slideLayouts/slideLayout3.xml" Id="Rd8748dac94104c35" /><Relationship Type="http://schemas.openxmlformats.org/officeDocument/2006/relationships/slideLayout" Target="/ppt/slideLayouts/slideLayout4.xml" Id="R2217f4b876a24d8b" /><Relationship Type="http://schemas.openxmlformats.org/officeDocument/2006/relationships/slideLayout" Target="/ppt/slideLayouts/slideLayout5.xml" Id="R7799e6991517425e" /><Relationship Type="http://schemas.openxmlformats.org/officeDocument/2006/relationships/slideLayout" Target="/ppt/slideLayouts/slideLayout6.xml" Id="R25fe1d6c59a74d74" /><Relationship Type="http://schemas.openxmlformats.org/officeDocument/2006/relationships/slideLayout" Target="/ppt/slideLayouts/slideLayout7.xml" Id="R59dd869bd1cb4eaf" /><Relationship Type="http://schemas.openxmlformats.org/officeDocument/2006/relationships/slideLayout" Target="/ppt/slideLayouts/slideLayout8.xml" Id="R594bdf38f76f4ee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8B8DABBD-8888-493D-B224-63274CCC4B0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1A0D34E8-9D38-4D97-AD3A-A7DD2F873FF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4" name="날짜 개체 틀 3">
            <a:extLst xmlns:a="http://schemas.openxmlformats.org/drawingml/2006/main">
              <a:ext uri="{FF2B5EF4-FFF2-40B4-BE49-F238E27FC236}">
                <a16:creationId xmlns:a16="http://schemas.microsoft.com/office/drawing/2014/main" id="{D4F7CE60-A505-44CE-88B9-6E44C985250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A38FB6A-844E-4645-B6B8-D2945F9927BB}" type="datetimeFigureOut">
              <a:t>2026-08-11</a:t>
            </a:fld>
            <a:endParaRPr/>
          </a:p>
        </p:txBody>
      </p:sp>
      <p:sp>
        <p:nvSpPr>
          <p:cNvPr id="5" name="바닥글 개체 틀 4">
            <a:extLst xmlns:a="http://schemas.openxmlformats.org/drawingml/2006/main">
              <a:ext uri="{FF2B5EF4-FFF2-40B4-BE49-F238E27FC236}">
                <a16:creationId xmlns:a16="http://schemas.microsoft.com/office/drawing/2014/main" id="{D239C106-6276-431E-B65E-BB96EDDBA18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277697B3-3FD2-4BBA-A957-40D034AD5B8A}"/>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8832701-68F9-4777-ABB9-C14E9759146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c304fc02bf4c45"/>
    <p:sldLayoutId xmlns:r="http://schemas.openxmlformats.org/officeDocument/2006/relationships" id="2147483650" r:id="Rab95048208774ad3"/>
    <p:sldLayoutId xmlns:r="http://schemas.openxmlformats.org/officeDocument/2006/relationships" id="2147483651" r:id="Rd8748dac94104c35"/>
    <p:sldLayoutId xmlns:r="http://schemas.openxmlformats.org/officeDocument/2006/relationships" id="2147483652" r:id="R2217f4b876a24d8b"/>
    <p:sldLayoutId xmlns:r="http://schemas.openxmlformats.org/officeDocument/2006/relationships" id="2147483653" r:id="R7799e6991517425e"/>
    <p:sldLayoutId xmlns:r="http://schemas.openxmlformats.org/officeDocument/2006/relationships" id="2147483654" r:id="R25fe1d6c59a74d74"/>
    <p:sldLayoutId xmlns:r="http://schemas.openxmlformats.org/officeDocument/2006/relationships" id="2147483655" r:id="R59dd869bd1cb4eaf"/>
    <p:sldLayoutId xmlns:r="http://schemas.openxmlformats.org/officeDocument/2006/relationships" id="2147483656" r:id="R594bdf38f76f4ee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7dbedeccd44ee7" /><Relationship Type="http://schemas.openxmlformats.org/officeDocument/2006/relationships/notesSlide" Target="/ppt/notesSlides/notesSlide1.xml" Id="R4ba2e3aae2ff45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00296453dd5456d" /><Relationship Type="http://schemas.openxmlformats.org/officeDocument/2006/relationships/notesSlide" Target="/ppt/notesSlides/notesSlide2.xml" Id="R0b3dd370f6a447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3c0d371ba7a45f1" /><Relationship Type="http://schemas.openxmlformats.org/officeDocument/2006/relationships/notesSlide" Target="/ppt/notesSlides/notesSlide3.xml" Id="R480b6508e8c845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bbeb6c1853e4ed4" /><Relationship Type="http://schemas.openxmlformats.org/officeDocument/2006/relationships/notesSlide" Target="/ppt/notesSlides/notesSlide4.xml" Id="R2034334c26f247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d562a74db3f746ed" /><Relationship Type="http://schemas.openxmlformats.org/officeDocument/2006/relationships/image" Target="/ppt/media/image.jpeg" Id="Read3f4c7c1294ded" /><Relationship Type="http://schemas.openxmlformats.org/officeDocument/2006/relationships/image" Target="/ppt/media/image2.jpeg" Id="R5e60fb8a5aae475b" /><Relationship Type="http://schemas.openxmlformats.org/officeDocument/2006/relationships/image" Target="/ppt/media/image3.jpeg" Id="Re006b9075839472a" /><Relationship Type="http://schemas.openxmlformats.org/officeDocument/2006/relationships/image" Target="/ppt/media/image4.jpeg" Id="R4e834510d73e4494" /><Relationship Type="http://schemas.openxmlformats.org/officeDocument/2006/relationships/notesSlide" Target="/ppt/notesSlides/notesSlide5.xml" Id="R63b3e3a8f2a24f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c48f3520b2024e31" /><Relationship Type="http://schemas.openxmlformats.org/officeDocument/2006/relationships/image" Target="/ppt/media/image5.jpeg" Id="Rf388b4e40de2473b" /><Relationship Type="http://schemas.openxmlformats.org/officeDocument/2006/relationships/image" Target="/ppt/media/image6.jpeg" Id="Rac2780d53f524906" /><Relationship Type="http://schemas.openxmlformats.org/officeDocument/2006/relationships/image" Target="/ppt/media/image7.jpeg" Id="Rd6ce8c974e4a42de" /><Relationship Type="http://schemas.openxmlformats.org/officeDocument/2006/relationships/image" Target="/ppt/media/image8.jpeg" Id="R8b7508714bca47d8" /><Relationship Type="http://schemas.openxmlformats.org/officeDocument/2006/relationships/image" Target="/ppt/media/image9.jpeg" Id="Rddd00bc775fa4a2c" /><Relationship Type="http://schemas.openxmlformats.org/officeDocument/2006/relationships/notesSlide" Target="/ppt/notesSlides/notesSlide6.xml" Id="R20538dae3ad644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0e8094f48fc84d8f" /><Relationship Type="http://schemas.openxmlformats.org/officeDocument/2006/relationships/notesSlide" Target="/ppt/notesSlides/notesSlide7.xml" Id="R1843b1fac30c41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cba45f2db04ec8" /><Relationship Type="http://schemas.openxmlformats.org/officeDocument/2006/relationships/notesSlide" Target="/ppt/notesSlides/notesSlide8.xml" Id="Rc690473587be4e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28d02f54f6e4f01" /><Relationship Type="http://schemas.openxmlformats.org/officeDocument/2006/relationships/notesSlide" Target="/ppt/notesSlides/notesSlide9.xml" Id="R1f40b06839134115" /></Relationships>
</file>

<file path=ppt/slides/slide1.xml><?xml version="1.0" encoding="utf-8"?>
<p:sld xmlns:p="http://schemas.openxmlformats.org/presentationml/2006/main">
  <p:cSld>
    <p:bg>
      <p:bgPr>
        <a:gradFill xmlns:a="http://schemas.openxmlformats.org/drawingml/2006/main" rotWithShape="1">
          <a:gsLst>
            <a:gs pos="0">
              <a:srgbClr val="401AC1"/>
            </a:gs>
            <a:gs pos="100000">
              <a:srgbClr val="280A41"/>
            </a:gs>
            <a:gs pos="75000">
              <a:srgbClr val="230A3A"/>
            </a:gs>
          </a:gsLst>
          <a:lin ang="2700000" scaled="1"/>
          <a:tileRect/>
        </a:gradFill>
      </p:bgPr>
    </p:bg>
    <p:spTree>
      <p:nvGrpSpPr>
        <p:cNvPr id="1" name=""/>
        <p:cNvGrpSpPr/>
        <p:nvPr/>
      </p:nvGrpSpPr>
      <p:grpSpPr>
        <a:xfrm xmlns:a="http://schemas.openxmlformats.org/drawingml/2006/main"/>
      </p:grpSpPr>
      <p:graphicFrame>
        <p:nvGraphicFramePr>
          <p:cNvPr id="2" name="표 5"/>
          <p:cNvGraphicFramePr/>
          <p:nvPr/>
        </p:nvGraphicFramePr>
        <p:xfrm>
          <a:off xmlns:a="http://schemas.openxmlformats.org/drawingml/2006/main" x="527397" y="4563687"/>
          <a:ext xmlns:a="http://schemas.openxmlformats.org/drawingml/2006/main" cx="6712988" cy="1112210"/>
        </p:xfrm>
        <a:graphic xmlns:a="http://schemas.openxmlformats.org/drawingml/2006/main">
          <a:graphicData uri="http://schemas.openxmlformats.org/drawingml/2006/table">
            <a:tbl>
              <a:tblPr firstRow="1" bandRow="1">
                <a:tableStyleId>{5C22544A-7EE6-4342-B048-85BDC9FD1C3A}</a:tableStyleId>
              </a:tblPr>
              <a:tblGrid>
                <a:gridCol w="1891569"/>
                <a:gridCol w="4821419"/>
              </a:tblGrid>
              <a:tr h="547792">
                <a:tc>
                  <a:txBody>
                    <a:bodyPr/>
                    <a:lstStyle/>
                    <a:p>
                      <a:pPr algn="ctr">
                        <a:buNone/>
                      </a:pPr>
                      <a:r>
                        <a:rPr sz="2400" b="1">
                          <a:solidFill>
                            <a:schemeClr val="bg1"/>
                          </a:solidFill>
                        </a:rPr>
                        <a:t>팀 명</a:t>
                      </a:r>
                    </a:p>
                  </a:txBody>
                  <a:tcPr marL="91440" marR="91440" marT="45720" marB="45720" anchor="ctr">
                    <a:lnR w="12700" cmpd="sng">
                      <a:solidFill>
                        <a:schemeClr val="bg1">
                          <a:lumMod val="85000"/>
                        </a:schemeClr>
                      </a:solidFill>
                      <a:prstDash val="solid"/>
                    </a:lnR>
                    <a:lnB w="12700" cmpd="sng">
                      <a:solidFill>
                        <a:schemeClr val="bg1">
                          <a:lumMod val="85000"/>
                        </a:schemeClr>
                      </a:solidFill>
                      <a:prstDash val="solid"/>
                    </a:lnB>
                    <a:solidFill>
                      <a:srgbClr val="372472"/>
                    </a:solidFill>
                  </a:tcPr>
                </a:tc>
                <a:tc>
                  <a:txBody>
                    <a:bodyPr/>
                    <a:lstStyle/>
                    <a:p>
                      <a:pPr>
                        <a:buNone/>
                      </a:pPr>
                      <a:r>
                        <a:rPr b="1">
                          <a:solidFill>
                            <a:srgbClr val="C62828"/>
                          </a:solidFill>
                          <a:latin typeface="맑은 고딕"/>
                          <a:ea typeface="맑은 고딕"/>
                          <a:cs typeface="맑은 고딕"/>
                        </a:rPr>
                        <a:t>[사용자 확인 필요] 참가신청 팀명</a:t>
                      </a:r>
                      <a:endParaRPr sz="2400" b="0">
                        <a:solidFill>
                          <a:schemeClr val="tx1"/>
                        </a:solidFill>
                      </a:endParaRPr>
                    </a:p>
                  </a:txBody>
                  <a:tcPr marL="91440" marR="91440" marT="45720" marB="45720" anchor="ctr">
                    <a:lnL w="12700" cmpd="sng">
                      <a:solidFill>
                        <a:schemeClr val="bg1">
                          <a:lumMod val="85000"/>
                        </a:schemeClr>
                      </a:solidFill>
                      <a:prstDash val="solid"/>
                    </a:lnL>
                    <a:lnB w="12700" cmpd="sng">
                      <a:solidFill>
                        <a:schemeClr val="bg1">
                          <a:lumMod val="85000"/>
                        </a:schemeClr>
                      </a:solidFill>
                      <a:prstDash val="solid"/>
                    </a:lnB>
                    <a:solidFill>
                      <a:srgbClr val="BBBCDE"/>
                    </a:solidFill>
                  </a:tcPr>
                </a:tc>
              </a:tr>
              <a:tr h="564418">
                <a:tc>
                  <a:txBody>
                    <a:bodyPr/>
                    <a:lstStyle/>
                    <a:p>
                      <a:pPr algn="ctr">
                        <a:buNone/>
                      </a:pPr>
                      <a:r>
                        <a:rPr sz="2400" b="1">
                          <a:solidFill>
                            <a:schemeClr val="bg1"/>
                          </a:solidFill>
                        </a:rPr>
                        <a:t>서비스</a:t>
                      </a:r>
                      <a:r>
                        <a:rPr sz="2400" b="1">
                          <a:solidFill>
                            <a:schemeClr val="bg1"/>
                          </a:solidFill>
                        </a:rPr>
                        <a:t> </a:t>
                      </a:r>
                      <a:r>
                        <a:rPr sz="2400" b="1">
                          <a:solidFill>
                            <a:schemeClr val="bg1"/>
                          </a:solidFill>
                        </a:rPr>
                        <a:t>명</a:t>
                      </a:r>
                    </a:p>
                  </a:txBody>
                  <a:tcPr marL="91440" marR="91440" marT="45720" marB="45720" anchor="ctr">
                    <a:lnR w="12700" cmpd="sng">
                      <a:solidFill>
                        <a:schemeClr val="bg1">
                          <a:lumMod val="85000"/>
                        </a:schemeClr>
                      </a:solidFill>
                      <a:prstDash val="solid"/>
                    </a:lnR>
                    <a:lnT w="12700" cmpd="sng">
                      <a:solidFill>
                        <a:schemeClr val="bg1">
                          <a:lumMod val="85000"/>
                        </a:schemeClr>
                      </a:solidFill>
                      <a:prstDash val="solid"/>
                    </a:lnT>
                    <a:solidFill>
                      <a:srgbClr val="372472"/>
                    </a:solidFill>
                  </a:tcPr>
                </a:tc>
                <a:tc>
                  <a:txBody>
                    <a:bodyPr/>
                    <a:lstStyle/>
                    <a:p>
                      <a:pPr>
                        <a:buNone/>
                      </a:pPr>
                      <a:r>
                        <a:rPr>
                          <a:solidFill>
                            <a:srgbClr val="111111"/>
                          </a:solidFill>
                          <a:latin typeface="맑은 고딕"/>
                          <a:ea typeface="맑은 고딕"/>
                          <a:cs typeface="맑은 고딕"/>
                        </a:rPr>
                        <a:t>TourPlanit (투어플래닛)</a:t>
                      </a:r>
                      <a:endParaRPr sz="2400" b="0">
                        <a:solidFill>
                          <a:schemeClr val="tx1"/>
                        </a:solidFill>
                      </a:endParaRPr>
                    </a:p>
                  </a:txBody>
                  <a:tcPr marL="91440" marR="91440" marT="45720" marB="45720" anchor="ctr">
                    <a:lnL w="12700" cmpd="sng">
                      <a:solidFill>
                        <a:schemeClr val="bg1">
                          <a:lumMod val="85000"/>
                        </a:schemeClr>
                      </a:solidFill>
                      <a:prstDash val="solid"/>
                    </a:lnL>
                    <a:lnT w="12700" cmpd="sng">
                      <a:solidFill>
                        <a:schemeClr val="bg1">
                          <a:lumMod val="85000"/>
                        </a:schemeClr>
                      </a:solidFill>
                      <a:prstDash val="solid"/>
                    </a:lnT>
                    <a:solidFill>
                      <a:srgbClr val="BBBCDE"/>
                    </a:solidFill>
                  </a:tcPr>
                </a:tc>
              </a:tr>
            </a:tbl>
          </a:graphicData>
        </a:graphic>
      </p:graphicFrame>
    </p:spTree>
    <p:extLst>
      <p:ext uri="{BB962C8B-B14F-4D97-AF65-F5344CB8AC3E}">
        <p14:creationId xmlns:p14="http://schemas.microsoft.com/office/powerpoint/2010/main" val="1353449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2"/>
          <p:cNvGraphicFramePr/>
          <p:nvPr/>
        </p:nvGraphicFramePr>
        <p:xfrm>
          <a:off xmlns:a="http://schemas.openxmlformats.org/drawingml/2006/main" x="271088" y="1065402"/>
          <a:ext xmlns:a="http://schemas.openxmlformats.org/drawingml/2006/main" cx="11649825" cy="5654871"/>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893693">
                <a:tc>
                  <a:txBody>
                    <a:bodyPr/>
                    <a:lstStyle/>
                    <a:p>
                      <a:pPr algn="ctr">
                        <a:buNone/>
                      </a:pPr>
                      <a:r>
                        <a:rPr b="1">
                          <a:solidFill>
                            <a:schemeClr val="bg1"/>
                          </a:solidFill>
                        </a:rPr>
                        <a:t>서비스명</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lvl="0" indent="0" algn="just">
                        <a:spcBef>
                          <a:spcPts val="0"/>
                        </a:spcBef>
                        <a:spcAft>
                          <a:spcPts val="0"/>
                        </a:spcAft>
                        <a:buNone/>
                      </a:pPr>
                      <a:r>
                        <a:rPr sz="1800" b="0">
                          <a:solidFill>
                            <a:srgbClr val="111111"/>
                          </a:solidFill>
                          <a:latin typeface="맑은 고딕"/>
                          <a:ea typeface="맑은 고딕"/>
                          <a:cs typeface="맑은 고딕"/>
                        </a:rPr>
                        <a:t>TourPlanit(투어플래닛) - 관광데이터 기반 여행상품 기획 자동화</a:t>
                      </a:r>
                      <a:endParaRPr sz="1800" b="0" baseline="0">
                        <a:solidFill>
                          <a:schemeClr val="tx1"/>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625585">
                <a:tc>
                  <a:txBody>
                    <a:bodyPr/>
                    <a:lstStyle/>
                    <a:p>
                      <a:pPr algn="ctr">
                        <a:buNone/>
                      </a:pPr>
                      <a:r>
                        <a:rPr b="1">
                          <a:solidFill>
                            <a:schemeClr val="bg1"/>
                          </a:solidFill>
                        </a:rPr>
                        <a:t>서비스 유형</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lvl="0" indent="0" algn="just">
                        <a:spcBef>
                          <a:spcPts val="0"/>
                        </a:spcBef>
                        <a:spcAft>
                          <a:spcPts val="0"/>
                        </a:spcAft>
                        <a:buNone/>
                      </a:pPr>
                      <a:r>
                        <a:rPr sz="1800" b="0">
                          <a:solidFill>
                            <a:srgbClr val="111111"/>
                          </a:solidFill>
                          <a:latin typeface="맑은 고딕"/>
                          <a:ea typeface="맑은 고딕"/>
                          <a:cs typeface="맑은 고딕"/>
                        </a:rPr>
                        <a:t>로그인 없이 사용하는 반응형 웹 서비스</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893693">
                <a:tc>
                  <a:txBody>
                    <a:bodyPr/>
                    <a:lstStyle/>
                    <a:p>
                      <a:pPr algn="ctr">
                        <a:buNone/>
                      </a:pPr>
                      <a:r>
                        <a:rPr b="1">
                          <a:solidFill>
                            <a:schemeClr val="bg1"/>
                          </a:solidFill>
                        </a:rPr>
                        <a:t>서비스 </a:t>
                      </a:r>
                      <a:r>
                        <a:rPr b="1">
                          <a:solidFill>
                            <a:schemeClr val="bg1"/>
                          </a:solidFill>
                        </a:rPr>
                        <a:t>타깃</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a:solidFill>
                            <a:srgbClr val="111111"/>
                          </a:solidFill>
                          <a:latin typeface="맑은 고딕"/>
                          <a:ea typeface="맑은 고딕"/>
                          <a:cs typeface="맑은 고딕"/>
                        </a:rPr>
                        <a:t>신규 관광상품을 기획·검토·홍보하는 여행사 상품기획자·OP 및 지자체 관광 실무자</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161801">
                <a:tc>
                  <a:txBody>
                    <a:bodyPr/>
                    <a:lstStyle/>
                    <a:p>
                      <a:pPr algn="ctr">
                        <a:buNone/>
                      </a:pPr>
                      <a:r>
                        <a:rPr b="1">
                          <a:solidFill>
                            <a:schemeClr val="bg1"/>
                          </a:solidFill>
                        </a:rPr>
                        <a:t>서비스 개요</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a:solidFill>
                            <a:srgbClr val="111111"/>
                          </a:solidFill>
                          <a:latin typeface="맑은 고딕"/>
                          <a:ea typeface="맑은 고딕"/>
                          <a:cs typeface="맑은 고딕"/>
                        </a:rPr>
                        <a:t>지역·기간·테마·타깃을 입력하면 한국관광공사 관광지 데이터와 AI를 연결해 일정·견적·다채널 홍보 초안을 한 흐름에서 만드는 검토형 워크스페이스</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161801">
                <a:tc>
                  <a:txBody>
                    <a:bodyPr/>
                    <a:lstStyle/>
                    <a:p>
                      <a:pPr algn="ctr">
                        <a:buNone/>
                      </a:pPr>
                      <a:r>
                        <a:rPr b="1">
                          <a:solidFill>
                            <a:schemeClr val="bg1"/>
                          </a:solidFill>
                        </a:rPr>
                        <a:t>선택 </a:t>
                      </a:r>
                      <a:r>
                        <a:rPr b="1">
                          <a:solidFill>
                            <a:schemeClr val="bg1"/>
                          </a:solidFill>
                        </a:rPr>
                        <a:t>지정과제</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lvl="0" indent="0" algn="just">
                        <a:spcBef>
                          <a:spcPts val="0"/>
                        </a:spcBef>
                        <a:spcAft>
                          <a:spcPts val="0"/>
                        </a:spcAft>
                        <a:buNone/>
                      </a:pPr>
                      <a:r>
                        <a:rPr sz="1800" b="1">
                          <a:solidFill>
                            <a:srgbClr val="C62828"/>
                          </a:solidFill>
                          <a:latin typeface="맑은 고딕"/>
                          <a:ea typeface="맑은 고딕"/>
                          <a:cs typeface="맑은 고딕"/>
                        </a:rPr>
                        <a:t>[사용자 확인 필요] 과제 7 - 전통적 여행상품 개발의 프로세스 파편화·공급 지연 문제 (콘텐츠랩 신청 정보와 대조 후 확정)</a:t>
                      </a:r>
                      <a:endParaRPr sz="1800" b="0" baseline="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808551">
                <a:tc>
                  <a:txBody>
                    <a:bodyPr/>
                    <a:lstStyle/>
                    <a:p>
                      <a:pPr marL="0" marR="0" lvl="0" indent="0" algn="ctr" defTabSz="914400">
                        <a:lnSpc>
                          <a:spcPct val="100000"/>
                        </a:lnSpc>
                        <a:spcBef>
                          <a:spcPts val="0"/>
                        </a:spcBef>
                        <a:spcAft>
                          <a:spcPts val="0"/>
                        </a:spcAft>
                        <a:buClrTx/>
                        <a:buSzTx/>
                        <a:buFontTx/>
                        <a:buNone/>
                      </a:pPr>
                      <a:r>
                        <a:rPr sz="1800" b="1">
                          <a:solidFill>
                            <a:schemeClr val="bg1"/>
                          </a:solidFill>
                        </a:rPr>
                        <a:t>지정과제</a:t>
                      </a:r>
                      <a:endParaRPr sz="1800" b="1" baseline="0">
                        <a:solidFill>
                          <a:schemeClr val="bg1"/>
                        </a:solidFill>
                      </a:endParaRPr>
                    </a:p>
                    <a:p>
                      <a:pPr marL="0" marR="0" lvl="0" indent="0" algn="ctr" defTabSz="914400">
                        <a:lnSpc>
                          <a:spcPct val="100000"/>
                        </a:lnSpc>
                        <a:spcBef>
                          <a:spcPts val="0"/>
                        </a:spcBef>
                        <a:spcAft>
                          <a:spcPts val="0"/>
                        </a:spcAft>
                        <a:buClrTx/>
                        <a:buSzTx/>
                        <a:buFontTx/>
                        <a:buNone/>
                      </a:pPr>
                      <a:r>
                        <a:rPr sz="1800" b="1">
                          <a:solidFill>
                            <a:schemeClr val="bg1"/>
                          </a:solidFill>
                        </a:rPr>
                        <a:t>선택</a:t>
                      </a:r>
                      <a:r>
                        <a:rPr sz="1800" b="1">
                          <a:solidFill>
                            <a:schemeClr val="bg1"/>
                          </a:solidFill>
                        </a:rPr>
                        <a:t> </a:t>
                      </a:r>
                      <a:r>
                        <a:rPr sz="1800" b="1">
                          <a:solidFill>
                            <a:schemeClr val="bg1"/>
                          </a:solidFill>
                        </a:rPr>
                        <a:t>이유</a:t>
                      </a:r>
                      <a:endParaRPr sz="18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관광지 탐색, 일정 구성, 원가 검토, 홍보물 작성이 서로 다른 도구에 흩어져 반복 입력과 공급 지연이 발생한다. 공공데이터와 AI를 실제 실무 산출물로 연결해 대응 속도를 높일 필요가 있다.</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1526000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7"/>
          <p:cNvGraphicFramePr/>
          <p:nvPr/>
        </p:nvGraphicFramePr>
        <p:xfrm>
          <a:off xmlns:a="http://schemas.openxmlformats.org/drawingml/2006/main" x="271088" y="1065401"/>
          <a:ext xmlns:a="http://schemas.openxmlformats.org/drawingml/2006/main" cx="11649825" cy="5570292"/>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2785146">
                <a:tc>
                  <a:txBody>
                    <a:bodyPr/>
                    <a:lstStyle/>
                    <a:p>
                      <a:pPr marL="0" marR="0" lvl="0" indent="0" algn="ctr" defTabSz="914400">
                        <a:lnSpc>
                          <a:spcPct val="100000"/>
                        </a:lnSpc>
                        <a:spcBef>
                          <a:spcPts val="0"/>
                        </a:spcBef>
                        <a:spcAft>
                          <a:spcPts val="0"/>
                        </a:spcAft>
                        <a:buClrTx/>
                        <a:buSzTx/>
                        <a:buFontTx/>
                        <a:buNone/>
                      </a:pPr>
                      <a:r>
                        <a:rPr b="1">
                          <a:solidFill>
                            <a:schemeClr val="bg1"/>
                          </a:solidFill>
                        </a:rPr>
                        <a:t>지정과제</a:t>
                      </a:r>
                      <a:r>
                        <a:rPr b="1">
                          <a:solidFill>
                            <a:schemeClr val="bg1"/>
                          </a:solidFill>
                        </a:rPr>
                        <a:t> 기반</a:t>
                      </a:r>
                      <a:endParaRPr b="1" baseline="0">
                        <a:solidFill>
                          <a:schemeClr val="bg1"/>
                        </a:solidFill>
                      </a:endParaRPr>
                    </a:p>
                    <a:p>
                      <a:pPr marL="0" marR="0" lvl="0" indent="0" algn="ctr" defTabSz="914400">
                        <a:lnSpc>
                          <a:spcPct val="100000"/>
                        </a:lnSpc>
                        <a:spcBef>
                          <a:spcPts val="0"/>
                        </a:spcBef>
                        <a:spcAft>
                          <a:spcPts val="0"/>
                        </a:spcAft>
                        <a:buClrTx/>
                        <a:buSzTx/>
                        <a:buFontTx/>
                        <a:buNone/>
                      </a:pPr>
                      <a:r>
                        <a:rPr b="1">
                          <a:solidFill>
                            <a:schemeClr val="bg1"/>
                          </a:solidFill>
                        </a:rPr>
                        <a:t>서비스 기획 방향</a:t>
                      </a:r>
                      <a:endParaRPr b="1" baseline="0">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지역·기간·테마·타깃·예산을 한 번 입력하면 KTO 관광지 조회 → AI 기획안 → 일정 → 견적 → 카드뉴스·블로그·카카오 문구로 이어지도록 구현했다. 실제 API 성공 데이터에만 출처·API명·필드·관광지 목록을 표시하고, 실패·빈 결과는 기본 데이터와 재확인 상태로 분리한다. AI 결과는 자동 발행하지 않고 담당자가 검토·수정·공유한다.</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785146">
                <a:tc>
                  <a:txBody>
                    <a:bodyPr/>
                    <a:lstStyle/>
                    <a:p>
                      <a:pPr algn="ctr">
                        <a:buNone/>
                      </a:pPr>
                      <a:r>
                        <a:rPr b="1">
                          <a:solidFill>
                            <a:schemeClr val="bg1"/>
                          </a:solidFill>
                        </a:rPr>
                        <a:t>해시태그</a:t>
                      </a:r>
                      <a:r>
                        <a:rPr b="1">
                          <a:solidFill>
                            <a:schemeClr val="bg1"/>
                          </a:solidFill>
                        </a:rPr>
                        <a:t> </a:t>
                      </a:r>
                      <a:r>
                        <a:rPr b="1">
                          <a:solidFill>
                            <a:schemeClr val="bg1"/>
                          </a:solidFill>
                        </a:rPr>
                        <a:t>목록</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#여행상품기획  #데이터기반  #관광수요  #관광지분석  #다채널홍보</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732848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graphicFrame>
        <p:nvGraphicFramePr>
          <p:cNvPr id="9" name="표 8"/>
          <p:cNvGraphicFramePr/>
          <p:nvPr/>
        </p:nvGraphicFramePr>
        <p:xfrm>
          <a:off xmlns:a="http://schemas.openxmlformats.org/drawingml/2006/main" x="180961" y="1551963"/>
          <a:ext xmlns:a="http://schemas.openxmlformats.org/drawingml/2006/main" cx="11830079" cy="4993748"/>
        </p:xfrm>
        <a:graphic xmlns:a="http://schemas.openxmlformats.org/drawingml/2006/main">
          <a:graphicData uri="http://schemas.openxmlformats.org/drawingml/2006/table">
            <a:tbl>
              <a:tblPr firstRow="1" bandRow="1">
                <a:tableStyleId>{5C22544A-7EE6-4342-B048-85BDC9FD1C3A}</a:tableStyleId>
              </a:tblPr>
              <a:tblGrid>
                <a:gridCol w="2570619"/>
                <a:gridCol w="2620520"/>
                <a:gridCol w="6638940"/>
              </a:tblGrid>
              <a:tr h="450256">
                <a:tc>
                  <a:txBody>
                    <a:bodyPr/>
                    <a:lstStyle/>
                    <a:p>
                      <a:pPr marL="0" marR="0" lvl="0" indent="0" algn="ctr" defTabSz="914400">
                        <a:lnSpc>
                          <a:spcPct val="100000"/>
                        </a:lnSpc>
                        <a:spcBef>
                          <a:spcPts val="0"/>
                        </a:spcBef>
                        <a:spcAft>
                          <a:spcPts val="0"/>
                        </a:spcAft>
                        <a:buClrTx/>
                        <a:buSzTx/>
                        <a:buFontTx/>
                        <a:buNone/>
                      </a:pPr>
                      <a:r>
                        <a:rPr sz="1600" b="1">
                          <a:solidFill>
                            <a:schemeClr val="bg1"/>
                          </a:solidFill>
                        </a:rPr>
                        <a:t>해시태그</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ctr" defTabSz="914400">
                        <a:lnSpc>
                          <a:spcPct val="100000"/>
                        </a:lnSpc>
                        <a:spcBef>
                          <a:spcPts val="0"/>
                        </a:spcBef>
                        <a:spcAft>
                          <a:spcPts val="0"/>
                        </a:spcAft>
                        <a:buClrTx/>
                        <a:buSzTx/>
                        <a:buFontTx/>
                        <a:buNone/>
                      </a:pPr>
                      <a:r>
                        <a:rPr sz="1600" b="1">
                          <a:solidFill>
                            <a:schemeClr val="bg1"/>
                          </a:solidFill>
                        </a:rPr>
                        <a:t>연계 기능</a:t>
                      </a:r>
                      <a:endParaRPr sz="16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ctr" defTabSz="914400">
                        <a:lnSpc>
                          <a:spcPct val="100000"/>
                        </a:lnSpc>
                        <a:spcBef>
                          <a:spcPts val="0"/>
                        </a:spcBef>
                        <a:spcAft>
                          <a:spcPts val="0"/>
                        </a:spcAft>
                        <a:buClrTx/>
                        <a:buSzTx/>
                        <a:buFontTx/>
                        <a:buNone/>
                      </a:pPr>
                      <a:r>
                        <a:rPr sz="1600" b="1">
                          <a:solidFill>
                            <a:schemeClr val="bg1"/>
                          </a:solidFill>
                        </a:rPr>
                        <a:t>연계 상세 내용</a:t>
                      </a:r>
                      <a:endParaRPr sz="16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r>
              <a:tr h="4543492">
                <a:tc>
                  <a:txBody>
                    <a:bodyPr/>
                    <a:lstStyle/>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#여행상품기획</a:t>
                      </a:r>
                      <a:endParaRPr sz="1800" b="0" baseline="0">
                        <a:solidFill>
                          <a:srgbClr val="FF0000"/>
                        </a:solidFill>
                        <a:latin typeface="+mn-lt"/>
                        <a:ea typeface="+mn-lt"/>
                        <a:cs typeface="+mn-lt"/>
                      </a:endParaRPr>
                    </a:p>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#데이터기반</a:t>
                      </a:r>
                      <a:endParaRPr sz="1800" b="0" baseline="0">
                        <a:solidFill>
                          <a:srgbClr val="FF0000"/>
                        </a:solidFill>
                        <a:latin typeface="+mn-lt"/>
                        <a:ea typeface="+mn-lt"/>
                        <a:cs typeface="+mn-lt"/>
                      </a:endParaRPr>
                    </a:p>
                    <a:p>
                      <a:pPr marL="0" marR="0" lvl="0" indent="0" algn="ctr" defTabSz="914400">
                        <a:lnSpc>
                          <a:spcPct val="100000"/>
                        </a:lnSpc>
                        <a:spcBef>
                          <a:spcPts val="0"/>
                        </a:spcBef>
                        <a:spcAft>
                          <a:spcPts val="0"/>
                        </a:spcAft>
                        <a:buClrTx/>
                        <a:buSzTx/>
                        <a:buFontTx/>
                        <a:buNone/>
                      </a:pPr>
                      <a:r>
                        <a:rPr b="0" i="1">
                          <a:solidFill>
                            <a:srgbClr val="111111"/>
                          </a:solidFill>
                          <a:latin typeface="맑은 고딕"/>
                          <a:ea typeface="맑은 고딕"/>
                          <a:cs typeface="맑은 고딕"/>
                        </a:rPr>
                        <a:t>#관광수요</a:t>
                      </a:r>
                      <a:endParaRPr b="0" i="1">
                        <a:solidFill>
                          <a:schemeClr val="tx1"/>
                        </a:solidFill>
                      </a:endParaRPr>
                    </a:p>
                    <a:p>
                      <a:pPr marL="0" marR="0" lvl="0" indent="0" algn="ctr" defTabSz="914400">
                        <a:lnSpc>
                          <a:spcPct val="100000"/>
                        </a:lnSpc>
                        <a:spcBef>
                          <a:spcPts val="0"/>
                        </a:spcBef>
                        <a:spcAft>
                          <a:spcPts val="0"/>
                        </a:spcAft>
                        <a:buClrTx/>
                        <a:buSzTx/>
                        <a:buFontTx/>
                        <a:buNone/>
                      </a:pPr>
                      <a:r>
                        <a:rPr b="0" i="1">
                          <a:solidFill>
                            <a:srgbClr val="111111"/>
                          </a:solidFill>
                          <a:latin typeface="맑은 고딕"/>
                          <a:ea typeface="맑은 고딕"/>
                          <a:cs typeface="맑은 고딕"/>
                        </a:rPr>
                        <a:t>#관광지분석</a:t>
                      </a:r>
                      <a:endParaRPr b="0" i="1">
                        <a:solidFill>
                          <a:schemeClr val="tx1"/>
                        </a:solidFill>
                      </a:endParaRPr>
                    </a:p>
                    <a:p>
                      <a:pPr marL="0" marR="0" lvl="0" indent="0" algn="ctr" defTabSz="914400">
                        <a:lnSpc>
                          <a:spcPct val="100000"/>
                        </a:lnSpc>
                        <a:spcBef>
                          <a:spcPts val="0"/>
                        </a:spcBef>
                        <a:spcAft>
                          <a:spcPts val="0"/>
                        </a:spcAft>
                        <a:buClrTx/>
                        <a:buSzTx/>
                        <a:buFontTx/>
                        <a:buNone/>
                      </a:pPr>
                      <a:r>
                        <a:rPr b="0" i="1">
                          <a:solidFill>
                            <a:srgbClr val="111111"/>
                          </a:solidFill>
                          <a:latin typeface="맑은 고딕"/>
                          <a:ea typeface="맑은 고딕"/>
                          <a:cs typeface="맑은 고딕"/>
                        </a:rPr>
                        <a:t>#다채널홍보</a:t>
                      </a:r>
                      <a:endParaRPr b="0" i="1">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조건 입력·기획 요약</a:t>
                      </a:r>
                      <a:endParaRPr sz="1800" b="0" baseline="0">
                        <a:solidFill>
                          <a:srgbClr val="FF0000"/>
                        </a:solidFill>
                        <a:latin typeface="+mn-lt"/>
                        <a:ea typeface="+mn-lt"/>
                        <a:cs typeface="+mn-lt"/>
                      </a:endParaRPr>
                    </a:p>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관광 데이터 근거 패널</a:t>
                      </a:r>
                      <a:endParaRPr sz="1800" b="0" baseline="0">
                        <a:solidFill>
                          <a:srgbClr val="FF0000"/>
                        </a:solidFill>
                        <a:latin typeface="+mn-lt"/>
                        <a:ea typeface="+mn-lt"/>
                        <a:cs typeface="+mn-lt"/>
                      </a:endParaRPr>
                    </a:p>
                    <a:p>
                      <a:pPr marL="0" marR="0" lvl="0" indent="0" algn="ctr"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테마·타깃·기간 설정</a:t>
                      </a:r>
                      <a:endParaRPr sz="1800" b="0">
                        <a:solidFill>
                          <a:schemeClr val="tx1"/>
                        </a:solidFill>
                        <a:latin typeface="+mn-lt"/>
                        <a:ea typeface="+mn-lt"/>
                        <a:cs typeface="+mn-lt"/>
                      </a:endParaRPr>
                    </a:p>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지역 관광지 후보 조회</a:t>
                      </a:r>
                      <a:endParaRPr sz="1800" b="0">
                        <a:solidFill>
                          <a:schemeClr val="tx1"/>
                        </a:solidFill>
                        <a:latin typeface="+mn-lt"/>
                        <a:ea typeface="+mn-lt"/>
                        <a:cs typeface="+mn-lt"/>
                      </a:endParaRPr>
                    </a:p>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카드뉴스·블로그·카카오</a:t>
                      </a:r>
                      <a:endParaRPr sz="1800" b="0">
                        <a:solidFill>
                          <a:schemeClr val="tx1"/>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l"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지역·기간·테마·타깃·예산·운영조건을 구조화해 상품 초안을 생성한다.</a:t>
                      </a:r>
                      <a:endParaRPr sz="1800" b="0" baseline="0">
                        <a:solidFill>
                          <a:srgbClr val="FF0000"/>
                        </a:solidFill>
                        <a:latin typeface="+mn-lt"/>
                        <a:ea typeface="+mn-lt"/>
                        <a:cs typeface="+mn-lt"/>
                      </a:endParaRPr>
                    </a:p>
                    <a:p>
                      <a:pPr marL="0" marR="0" lvl="0" indent="0" algn="l"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성공한 OpenAPI 응답에만 API명, 지역 코드, 조회 시각, 사용 필드와 관광지 목록을 표시한다.</a:t>
                      </a:r>
                      <a:endParaRPr/>
                    </a:p>
                    <a:p>
                      <a:pPr marL="0" marR="0" lvl="0" indent="0" algn="l"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고객군과 여행 조건을 AI 상품 구성의 입력으로 사용한다.</a:t>
                      </a:r>
                      <a:endParaRPr sz="1800" b="0" baseline="0">
                        <a:solidFill>
                          <a:srgbClr val="FF0000"/>
                        </a:solidFill>
                        <a:latin typeface="+mn-lt"/>
                        <a:ea typeface="+mn-lt"/>
                        <a:cs typeface="+mn-lt"/>
                      </a:endParaRPr>
                    </a:p>
                    <a:p>
                      <a:pPr marL="0" marR="0" lvl="0" indent="0" algn="l" defTabSz="914400">
                        <a:lnSpc>
                          <a:spcPct val="100000"/>
                        </a:lnSpc>
                        <a:spcBef>
                          <a:spcPts val="0"/>
                        </a:spcBef>
                        <a:spcAft>
                          <a:spcPts val="0"/>
                        </a:spcAft>
                        <a:buClrTx/>
                        <a:buSzTx/>
                        <a:buFontTx/>
                        <a:buNone/>
                      </a:pPr>
                      <a:r>
                        <a:rPr sz="1800" b="0" i="1">
                          <a:solidFill>
                            <a:srgbClr val="111111"/>
                          </a:solidFill>
                          <a:latin typeface="맑은 고딕"/>
                          <a:ea typeface="맑은 고딕"/>
                          <a:cs typeface="맑은 고딕"/>
                        </a:rPr>
                        <a:t>areaBasedList2의 관광지명·주소·이미지·콘텐츠 ID·타입을 기획 후보로 활용한다.</a:t>
                      </a:r>
                    </a:p>
                    <a:p>
                      <a:pPr marL="0" marR="0" lvl="0" indent="0" algn="l" defTabSz="914400">
                        <a:lnSpc>
                          <a:spcPct val="100000"/>
                        </a:lnSpc>
                        <a:spcBef>
                          <a:spcPts val="0"/>
                        </a:spcBef>
                        <a:spcAft>
                          <a:spcPts val="0"/>
                        </a:spcAft>
                        <a:buClrTx/>
                        <a:buSzTx/>
                        <a:buFontTx/>
                        <a:buNone/>
                      </a:pPr>
                      <a:r>
                        <a:rPr sz="1800" b="0" i="1">
                          <a:solidFill>
                            <a:srgbClr val="111111"/>
                          </a:solidFill>
                          <a:latin typeface="맑은 고딕"/>
                          <a:ea typeface="맑은 고딕"/>
                          <a:cs typeface="맑은 고딕"/>
                        </a:rPr>
                        <a:t>동일 기획 결과를 4:5 카드뉴스, 블로그, 카카오 등 검토 가능한 홍보 초안으로 전환한다.</a:t>
                      </a:r>
                      <a:endParaRPr sz="1800" b="0" i="1" baseline="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
        <p:nvSpPr>
          <p:cNvPr id="7" name="직사각형 6">
            <a:extLst xmlns:a="http://schemas.openxmlformats.org/drawingml/2006/main">
              <a:ext uri="{FF2B5EF4-FFF2-40B4-BE49-F238E27FC236}">
                <a16:creationId xmlns:a16="http://schemas.microsoft.com/office/drawing/2014/main" id="{28C82D31-9C05-4620-BC1A-1B26C6ACAD72}"/>
              </a:ext>
            </a:extLst>
          </p:cNvPr>
          <p:cNvSpPr>
            <a:spLocks xmlns:a="http://schemas.openxmlformats.org/drawingml/2006/main" noGrp="1"/>
          </p:cNvSpPr>
          <p:nvPr/>
        </p:nvSpPr>
        <p:spPr>
          <a:xfrm xmlns:a="http://schemas.openxmlformats.org/drawingml/2006/main">
            <a:off x="0" y="0"/>
            <a:ext cx="0" cy="0"/>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4" name="TextBox 3">
            <a:extLst xmlns:a="http://schemas.openxmlformats.org/drawingml/2006/main">
              <a:ext uri="{FF2B5EF4-FFF2-40B4-BE49-F238E27FC236}">
                <a16:creationId xmlns:a16="http://schemas.microsoft.com/office/drawing/2014/main" id="{6FFF9C50-2617-46D4-9903-71BBF4FCF1A7}"/>
              </a:ext>
            </a:extLst>
          </p:cNvPr>
          <p:cNvSpPr>
            <a:spLocks xmlns:a="http://schemas.openxmlformats.org/drawingml/2006/main" noGrp="1"/>
          </p:cNvSpPr>
          <p:nvPr/>
        </p:nvSpPr>
        <p:spPr>
          <a:xfrm xmlns:a="http://schemas.openxmlformats.org/drawingml/2006/main">
            <a:off x="174567" y="1101012"/>
            <a:ext cx="3382365" cy="307777"/>
          </a:xfrm>
          <a:prstGeom xmlns:a="http://schemas.openxmlformats.org/drawingml/2006/main" prst="rect">
            <a:avLst/>
          </a:prstGeom>
          <a:solidFill xmlns:a="http://schemas.openxmlformats.org/drawingml/2006/main">
            <a:srgbClr val="372472"/>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해시태그 연계 핵심기능 및 상세내용</a:t>
            </a:r>
            <a:endParaRPr sz="1400" b="1">
              <a:solidFill>
                <a:schemeClr val="bg1"/>
              </a:solidFill>
            </a:endParaRPr>
          </a:p>
        </p:txBody>
      </p:sp>
    </p:spTree>
    <p:extLst>
      <p:ext uri="{BB962C8B-B14F-4D97-AF65-F5344CB8AC3E}">
        <p14:creationId xmlns:p14="http://schemas.microsoft.com/office/powerpoint/2010/main" val="40986881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14" name="표 4"/>
          <p:cNvGraphicFramePr/>
          <p:nvPr/>
        </p:nvGraphicFramePr>
        <p:xfrm>
          <a:off xmlns:a="http://schemas.openxmlformats.org/drawingml/2006/main" x="302952" y="2702225"/>
          <a:ext xmlns:a="http://schemas.openxmlformats.org/drawingml/2006/main" cx="11426308" cy="3836943"/>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1846">
                <a:tc gridSpan="4">
                  <a:txBody>
                    <a:bodyPr/>
                    <a:lstStyle/>
                    <a:p>
                      <a:pPr algn="ctr">
                        <a:buNone/>
                      </a:pPr>
                      <a:r>
                        <a:rPr>
                          <a:solidFill>
                            <a:schemeClr val="bg1"/>
                          </a:solidFill>
                        </a:rPr>
                        <a:t>기능</a:t>
                      </a:r>
                      <a:r>
                        <a:rPr>
                          <a:solidFill>
                            <a:schemeClr val="bg1"/>
                          </a:solidFill>
                        </a:rPr>
                        <a:t> </a:t>
                      </a:r>
                      <a:r>
                        <a:rPr>
                          <a:solidFill>
                            <a:schemeClr val="bg1"/>
                          </a:solidFill>
                        </a:rPr>
                        <a:t>흐름도</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282463">
                <a:tc>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166258">
                <a:tc>
                  <a:txBody>
                    <a:bodyPr/>
                    <a:lstStyle/>
                    <a:p>
                      <a:pPr marL="0" marR="0" lvl="0" indent="0" algn="ctr" defTabSz="914400">
                        <a:lnSpc>
                          <a:spcPct val="100000"/>
                        </a:lnSpc>
                        <a:spcBef>
                          <a:spcPts val="0"/>
                        </a:spcBef>
                        <a:spcAft>
                          <a:spcPts val="0"/>
                        </a:spcAft>
                        <a:buClrTx/>
                        <a:buSzTx/>
                        <a:buFontTx/>
                        <a:buNone/>
                      </a:pPr>
                      <a:r>
                        <a:rPr sz="1800" b="0">
                          <a:solidFill>
                            <a:srgbClr val="111111"/>
                          </a:solidFill>
                          <a:latin typeface="맑은 고딕"/>
                          <a:ea typeface="맑은 고딕"/>
                          <a:cs typeface="맑은 고딕"/>
                        </a:rPr>
                        <a:t>① 조건 입력</a:t>
                      </a:r>
                      <a:endParaRPr b="0">
                        <a:solidFill>
                          <a:schemeClr val="tx1"/>
                        </a:solidFill>
                      </a:endParaRPr>
                    </a:p>
                    <a:p>
                      <a:pPr algn="ctr">
                        <a:buNone/>
                      </a:pPr>
                      <a:r>
                        <a:rPr b="0">
                          <a:solidFill>
                            <a:srgbClr val="111111"/>
                          </a:solidFill>
                          <a:latin typeface="맑은 고딕"/>
                          <a:ea typeface="맑은 고딕"/>
                          <a:cs typeface="맑은 고딕"/>
                        </a:rPr>
                        <a:t>지역·기간·테마·타깃·예산</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ctr">
                        <a:buNone/>
                      </a:pPr>
                      <a:r>
                        <a:rPr>
                          <a:solidFill>
                            <a:srgbClr val="111111"/>
                          </a:solidFill>
                          <a:latin typeface="맑은 고딕"/>
                          <a:ea typeface="맑은 고딕"/>
                          <a:cs typeface="맑은 고딕"/>
                        </a:rPr>
                        <a:t>② KTO 조회 + AI 생성</a:t>
                      </a:r>
                      <a:endParaRPr b="0">
                        <a:solidFill>
                          <a:schemeClr val="tx1"/>
                        </a:solidFill>
                      </a:endParaRPr>
                    </a:p>
                    <a:p>
                      <a:pPr algn="ctr">
                        <a:buNone/>
                      </a:pPr>
                      <a:r>
                        <a:rPr>
                          <a:solidFill>
                            <a:srgbClr val="111111"/>
                          </a:solidFill>
                          <a:latin typeface="맑은 고딕"/>
                          <a:ea typeface="맑은 고딕"/>
                          <a:cs typeface="맑은 고딕"/>
                        </a:rPr>
                        <a:t>성공 데이터만 근거 표시</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ctr">
                        <a:buNone/>
                      </a:pPr>
                      <a:r>
                        <a:rPr>
                          <a:solidFill>
                            <a:srgbClr val="111111"/>
                          </a:solidFill>
                          <a:latin typeface="맑은 고딕"/>
                          <a:ea typeface="맑은 고딕"/>
                          <a:cs typeface="맑은 고딕"/>
                        </a:rPr>
                        <a:t>③ 일정·견적 검토</a:t>
                      </a:r>
                      <a:endParaRPr b="0">
                        <a:solidFill>
                          <a:schemeClr val="tx1"/>
                        </a:solidFill>
                      </a:endParaRPr>
                    </a:p>
                    <a:p>
                      <a:pPr algn="ctr">
                        <a:buNone/>
                      </a:pPr>
                      <a:r>
                        <a:rPr>
                          <a:solidFill>
                            <a:srgbClr val="111111"/>
                          </a:solidFill>
                          <a:latin typeface="맑은 고딕"/>
                          <a:ea typeface="맑은 고딕"/>
                          <a:cs typeface="맑은 고딕"/>
                        </a:rPr>
                        <a:t>운영조건·원가 확인</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ctr">
                        <a:buNone/>
                      </a:pPr>
                      <a:r>
                        <a:rPr>
                          <a:solidFill>
                            <a:srgbClr val="111111"/>
                          </a:solidFill>
                          <a:latin typeface="맑은 고딕"/>
                          <a:ea typeface="맑은 고딕"/>
                          <a:cs typeface="맑은 고딕"/>
                        </a:rPr>
                        <a:t>④ 홍보물 전환</a:t>
                      </a:r>
                      <a:endParaRPr b="0">
                        <a:solidFill>
                          <a:schemeClr val="tx1"/>
                        </a:solidFill>
                      </a:endParaRPr>
                    </a:p>
                    <a:p>
                      <a:pPr algn="ctr">
                        <a:buNone/>
                      </a:pPr>
                      <a:r>
                        <a:rPr>
                          <a:solidFill>
                            <a:srgbClr val="111111"/>
                          </a:solidFill>
                          <a:latin typeface="맑은 고딕"/>
                          <a:ea typeface="맑은 고딕"/>
                          <a:cs typeface="맑은 고딕"/>
                        </a:rPr>
                        <a:t>4:5 카드·블로그·카카오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15" name="표 5"/>
          <p:cNvGraphicFramePr/>
          <p:nvPr/>
        </p:nvGraphicFramePr>
        <p:xfrm>
          <a:off xmlns:a="http://schemas.openxmlformats.org/drawingml/2006/main" x="302952" y="1130530"/>
          <a:ext xmlns:a="http://schemas.openxmlformats.org/drawingml/2006/main" cx="11426308" cy="137160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182880">
                <a:tc>
                  <a:txBody>
                    <a:bodyPr/>
                    <a:lstStyle/>
                    <a:p>
                      <a:pPr algn="ctr">
                        <a:buNone/>
                      </a:pPr>
                      <a:r>
                        <a:rPr b="1">
                          <a:solidFill>
                            <a:schemeClr val="bg1"/>
                          </a:solidFill>
                        </a:rPr>
                        <a:t>해시태그</a:t>
                      </a:r>
                      <a:r>
                        <a:rPr b="1">
                          <a:solidFill>
                            <a:schemeClr val="bg1"/>
                          </a:solidFill>
                        </a:rPr>
                        <a:t>1</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buNone/>
                      </a:pPr>
                      <a:r>
                        <a:rPr b="0">
                          <a:solidFill>
                            <a:srgbClr val="111111"/>
                          </a:solidFill>
                          <a:latin typeface="맑은 고딕"/>
                          <a:ea typeface="맑은 고딕"/>
                          <a:cs typeface="맑은 고딕"/>
                        </a:rPr>
                        <a:t>#데이터기반 #여행상품기획 #다채널홍보</a:t>
                      </a:r>
                      <a:endParaRPr b="0" i="1">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82880">
                <a:tc>
                  <a:txBody>
                    <a:bodyPr/>
                    <a:lstStyle/>
                    <a:p>
                      <a:pPr marL="0" marR="0" lvl="0" indent="0" algn="ctr" defTabSz="914400">
                        <a:lnSpc>
                          <a:spcPct val="100000"/>
                        </a:lnSpc>
                        <a:spcBef>
                          <a:spcPts val="0"/>
                        </a:spcBef>
                        <a:spcAft>
                          <a:spcPts val="0"/>
                        </a:spcAft>
                        <a:buClrTx/>
                        <a:buSzTx/>
                        <a:buFontTx/>
                        <a:buNone/>
                      </a:pPr>
                      <a:r>
                        <a:rPr b="1">
                          <a:solidFill>
                            <a:schemeClr val="bg1"/>
                          </a:solidFill>
                        </a:rPr>
                        <a:t>연계기능</a:t>
                      </a:r>
                      <a:r>
                        <a:rPr b="1">
                          <a:solidFill>
                            <a:schemeClr val="bg1"/>
                          </a:solidFill>
                        </a:rPr>
                        <a:t>1</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buNone/>
                      </a:pPr>
                      <a:r>
                        <a:rPr b="0">
                          <a:solidFill>
                            <a:srgbClr val="111111"/>
                          </a:solidFill>
                          <a:latin typeface="맑은 고딕"/>
                          <a:ea typeface="맑은 고딕"/>
                          <a:cs typeface="맑은 고딕"/>
                        </a:rPr>
                        <a:t>KTO 실데이터 근거를 연결한 여행상품 통합 기획</a:t>
                      </a:r>
                      <a:endParaRPr b="0" i="1">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36913">
                <a:tc>
                  <a:txBody>
                    <a:bodyPr/>
                    <a:lstStyle/>
                    <a:p>
                      <a:pPr algn="ctr">
                        <a:buNone/>
                      </a:pPr>
                      <a:r>
                        <a:rPr b="1">
                          <a:solidFill>
                            <a:schemeClr val="bg1"/>
                          </a:solidFill>
                        </a:rPr>
                        <a:t>기능설명</a:t>
                      </a:r>
                      <a:r>
                        <a:rPr b="1">
                          <a:solidFill>
                            <a:schemeClr val="bg1"/>
                          </a:solidFill>
                        </a:rPr>
                        <a:t>1</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l"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조건 입력부터 KTO 조회, AI 생성, 일정·견적·홍보물 검토까지 로그인 없이 한 흐름으로 실행한다.</a:t>
                      </a:r>
                      <a:endParaRPr b="0">
                        <a:solidFill>
                          <a:srgbClr val="FF0000"/>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
        <p:nvSpPr>
          <p:cNvPr id="7" name="직사각형 6">
            <a:extLst xmlns:a="http://schemas.openxmlformats.org/drawingml/2006/main">
              <a:ext uri="{FF2B5EF4-FFF2-40B4-BE49-F238E27FC236}">
                <a16:creationId xmlns:a16="http://schemas.microsoft.com/office/drawing/2014/main" id="{432064ED-88A2-4820-83D2-C16B75CEE834}"/>
              </a:ext>
            </a:extLst>
          </p:cNvPr>
          <p:cNvSpPr>
            <a:spLocks xmlns:a="http://schemas.openxmlformats.org/drawingml/2006/main" noGrp="1"/>
          </p:cNvSpPr>
          <p:nvPr/>
        </p:nvSpPr>
        <p:spPr>
          <a:xfrm xmlns:a="http://schemas.openxmlformats.org/drawingml/2006/main">
            <a:off x="0" y="0"/>
            <a:ext cx="0" cy="0"/>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ad3f4c7c1294ded"/>
          <a:stretch xmlns:a="http://schemas.openxmlformats.org/drawingml/2006/main"/>
        </p:blipFill>
        <p:spPr>
          <a:xfrm xmlns:a="http://schemas.openxmlformats.org/drawingml/2006/main">
            <a:off x="381000" y="3402806"/>
            <a:ext cx="2667000" cy="1500188"/>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e60fb8a5aae475b"/>
          <a:stretch xmlns:a="http://schemas.openxmlformats.org/drawingml/2006/main"/>
        </p:blipFill>
        <p:spPr>
          <a:xfrm xmlns:a="http://schemas.openxmlformats.org/drawingml/2006/main">
            <a:off x="3238500" y="3402806"/>
            <a:ext cx="2667000" cy="150018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006b9075839472a"/>
          <a:stretch xmlns:a="http://schemas.openxmlformats.org/drawingml/2006/main"/>
        </p:blipFill>
        <p:spPr>
          <a:xfrm xmlns:a="http://schemas.openxmlformats.org/drawingml/2006/main">
            <a:off x="6096000" y="3402806"/>
            <a:ext cx="2667000" cy="1500188"/>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e834510d73e4494"/>
          <a:stretch xmlns:a="http://schemas.openxmlformats.org/drawingml/2006/main"/>
        </p:blipFill>
        <p:spPr>
          <a:xfrm xmlns:a="http://schemas.openxmlformats.org/drawingml/2006/main">
            <a:off x="8953500" y="3402806"/>
            <a:ext cx="2667000" cy="1500188"/>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7" name="표 2"/>
          <p:cNvGraphicFramePr/>
          <p:nvPr/>
        </p:nvGraphicFramePr>
        <p:xfrm>
          <a:off xmlns:a="http://schemas.openxmlformats.org/drawingml/2006/main" x="271088" y="1065401"/>
          <a:ext xmlns:a="http://schemas.openxmlformats.org/drawingml/2006/main" cx="11649825" cy="5570292"/>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2785146">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대표 이미지</a:t>
                      </a:r>
                      <a:endParaRPr b="1">
                        <a:solidFill>
                          <a:schemeClr val="bg1"/>
                        </a:solidFill>
                      </a:endParaRPr>
                    </a:p>
                    <a:p>
                      <a:pPr algn="ctr">
                        <a:buNone/>
                      </a:pPr>
                      <a:r>
                        <a:rPr b="1">
                          <a:solidFill>
                            <a:schemeClr val="bg1"/>
                          </a:solidFill>
                        </a:rPr>
                        <a:t>(</a:t>
                      </a:r>
                      <a:r>
                        <a:rPr b="1">
                          <a:solidFill>
                            <a:schemeClr val="bg1"/>
                          </a:solidFill>
                        </a:rPr>
                        <a:t>썸네일</a:t>
                      </a:r>
                      <a:r>
                        <a:rPr b="1">
                          <a:solidFill>
                            <a:schemeClr val="bg1"/>
                          </a:solidFill>
                        </a:rPr>
                        <a:t>)</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785146">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상세 이미지</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388b4e40de2473b"/>
          <a:stretch xmlns:a="http://schemas.openxmlformats.org/drawingml/2006/main"/>
        </p:blipFill>
        <p:spPr>
          <a:xfrm xmlns:a="http://schemas.openxmlformats.org/drawingml/2006/main">
            <a:off x="4814358" y="1181100"/>
            <a:ext cx="4487333" cy="252412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c2780d53f524906"/>
          <a:stretch xmlns:a="http://schemas.openxmlformats.org/drawingml/2006/main"/>
        </p:blipFill>
        <p:spPr>
          <a:xfrm xmlns:a="http://schemas.openxmlformats.org/drawingml/2006/main">
            <a:off x="2333625" y="4574977"/>
            <a:ext cx="2190750" cy="1232297"/>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6ce8c974e4a42de"/>
          <a:stretch xmlns:a="http://schemas.openxmlformats.org/drawingml/2006/main"/>
        </p:blipFill>
        <p:spPr>
          <a:xfrm xmlns:a="http://schemas.openxmlformats.org/drawingml/2006/main">
            <a:off x="4686300" y="4574977"/>
            <a:ext cx="2190750" cy="1232297"/>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b7508714bca47d8"/>
          <a:stretch xmlns:a="http://schemas.openxmlformats.org/drawingml/2006/main"/>
        </p:blipFill>
        <p:spPr>
          <a:xfrm xmlns:a="http://schemas.openxmlformats.org/drawingml/2006/main">
            <a:off x="7038975" y="4574977"/>
            <a:ext cx="2190750" cy="1232297"/>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dd00bc775fa4a2c"/>
          <a:stretch xmlns:a="http://schemas.openxmlformats.org/drawingml/2006/main"/>
        </p:blipFill>
        <p:spPr>
          <a:xfrm xmlns:a="http://schemas.openxmlformats.org/drawingml/2006/main">
            <a:off x="9391650" y="4574977"/>
            <a:ext cx="2190750" cy="1232297"/>
          </a:xfrm>
          <a:prstGeom xmlns:a="http://schemas.openxmlformats.org/drawingml/2006/main" prst="rect">
            <a:avLst/>
          </a:prstGeom>
        </p:spPr>
      </p:pic>
    </p:spTree>
    <p:extLst>
      <p:ext uri="{BB962C8B-B14F-4D97-AF65-F5344CB8AC3E}">
        <p14:creationId xmlns:p14="http://schemas.microsoft.com/office/powerpoint/2010/main" val="282296920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9AAD86E5-12FB-47FB-B6B2-31A4B3CA1ADF}"/>
              </a:ext>
            </a:extLst>
          </p:cNvPr>
          <p:cNvSpPr>
            <a:spLocks xmlns:a="http://schemas.openxmlformats.org/drawingml/2006/main" noGrp="1"/>
          </p:cNvSpPr>
          <p:nvPr/>
        </p:nvSpPr>
        <p:spPr>
          <a:xfrm xmlns:a="http://schemas.openxmlformats.org/drawingml/2006/main">
            <a:off x="174567" y="1101012"/>
            <a:ext cx="4770658" cy="307777"/>
          </a:xfrm>
          <a:prstGeom xmlns:a="http://schemas.openxmlformats.org/drawingml/2006/main" prst="rect">
            <a:avLst/>
          </a:prstGeom>
          <a:solidFill xmlns:a="http://schemas.openxmlformats.org/drawingml/2006/main">
            <a:srgbClr val="372472"/>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한국관광공사 </a:t>
            </a:r>
            <a:r>
              <a:rPr sz="1400" b="1">
                <a:solidFill>
                  <a:schemeClr val="bg1"/>
                </a:solidFill>
              </a:rPr>
              <a:t>OpenAPI </a:t>
            </a:r>
            <a:r>
              <a:rPr sz="1400" b="1">
                <a:solidFill>
                  <a:schemeClr val="bg1"/>
                </a:solidFill>
              </a:rPr>
              <a:t>리스트</a:t>
            </a:r>
          </a:p>
        </p:txBody>
      </p:sp>
      <p:graphicFrame>
        <p:nvGraphicFramePr>
          <p:cNvPr id="6" name="표 6"/>
          <p:cNvGraphicFramePr/>
          <p:nvPr/>
        </p:nvGraphicFramePr>
        <p:xfrm>
          <a:off xmlns:a="http://schemas.openxmlformats.org/drawingml/2006/main" x="174566" y="1646098"/>
          <a:ext xmlns:a="http://schemas.openxmlformats.org/drawingml/2006/main" cx="11746191" cy="3789680"/>
        </p:xfrm>
        <a:graphic xmlns:a="http://schemas.openxmlformats.org/drawingml/2006/main">
          <a:graphicData uri="http://schemas.openxmlformats.org/drawingml/2006/table">
            <a:tbl>
              <a:tblPr firstRow="1" bandRow="1">
                <a:tableStyleId>{5C22544A-7EE6-4342-B048-85BDC9FD1C3A}</a:tableStyleId>
              </a:tblPr>
              <a:tblGrid>
                <a:gridCol w="829450"/>
                <a:gridCol w="1834747"/>
                <a:gridCol w="9081994"/>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just"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한국관광공사 관광정보 OpenAPI KorService2 / areaBasedList2</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just"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Endpoint: /B551011/KorService2/areaBasedList2</a:t>
                      </a:r>
                    </a:p>
                    <a:p>
                      <a:pPr marL="0" marR="0" lvl="0" indent="0" algn="just"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파라미터: areaCode, contentTypeId, numOfRows, pageNo, MobileOS, MobileApp, _type</a:t>
                      </a:r>
                    </a:p>
                    <a:p>
                      <a:pPr marL="0" marR="0" lvl="0" indent="0" algn="just"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활용 필드: title, addr1, firstimage/firstimage2, contentid, contenttypeid</a:t>
                      </a:r>
                    </a:p>
                    <a:p>
                      <a:pPr marL="0" marR="0" lvl="0" indent="0" algn="just"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활용 위치: AI 상품 초안의 지역 관광지 후보 및 결과 화면의 관광 데이터 근거·관광지 목록</a:t>
                      </a:r>
                    </a:p>
                    <a:p>
                      <a:pPr marL="0" marR="0" lvl="0" indent="0" algn="just" defTabSz="914400">
                        <a:lnSpc>
                          <a:spcPct val="100000"/>
                        </a:lnSpc>
                        <a:spcBef>
                          <a:spcPts val="0"/>
                        </a:spcBef>
                        <a:spcAft>
                          <a:spcPts val="0"/>
                        </a:spcAft>
                        <a:buClrTx/>
                        <a:buSzTx/>
                        <a:buFontTx/>
                        <a:buNone/>
                      </a:pPr>
                      <a:r>
                        <a:rPr b="0">
                          <a:solidFill>
                            <a:srgbClr val="111111"/>
                          </a:solidFill>
                          <a:latin typeface="맑은 고딕"/>
                          <a:ea typeface="맑은 고딕"/>
                          <a:cs typeface="맑은 고딕"/>
                        </a:rPr>
                        <a:t>성공 판정: HTTP 성공 + resultCode 0000(또는 미기재) + 관광지 1건 이상</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latin typeface="맑은 고딕"/>
                          <a:ea typeface="맑은 고딕"/>
                          <a:cs typeface="맑은 고딕"/>
                          <a:solidFill>
                            <a:schemeClr val="tx1"/>
                          </a:solidFill>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r>
                        <a:rPr>
                          <a:solidFill>
                            <a:srgbClr val="111111"/>
                          </a:solidFill>
                          <a:latin typeface="맑은 고딕"/>
                          <a:ea typeface="맑은 고딕"/>
                          <a:cs typeface="맑은 고딕"/>
                        </a:rPr>
                        <a:t/>
                      </a:r>
                      <a:endParaRPr/>
                    </a:p>
                  </a:txBody>
                  <a:tcPr marL="91440" marR="91440" marT="45720" marB="45720"/>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latin typeface="맑은 고딕"/>
                          <a:ea typeface="맑은 고딕"/>
                          <a:cs typeface="맑은 고딕"/>
                          <a:solidFill>
                            <a:schemeClr val="tx1"/>
                          </a:solidFill>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r>
                        <a:rPr>
                          <a:solidFill>
                            <a:srgbClr val="111111"/>
                          </a:solidFill>
                          <a:latin typeface="맑은 고딕"/>
                          <a:ea typeface="맑은 고딕"/>
                          <a:cs typeface="맑은 고딕"/>
                        </a:rPr>
                        <a:t/>
                      </a: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latin typeface="맑은 고딕"/>
                          <a:ea typeface="맑은 고딕"/>
                          <a:cs typeface="맑은 고딕"/>
                          <a:solidFill>
                            <a:schemeClr val="tx1"/>
                          </a:solidFill>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r>
                        <a:rPr>
                          <a:solidFill>
                            <a:srgbClr val="111111"/>
                          </a:solidFill>
                          <a:latin typeface="맑은 고딕"/>
                          <a:ea typeface="맑은 고딕"/>
                          <a:cs typeface="맑은 고딕"/>
                        </a:rPr>
                        <a:t/>
                      </a: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latin typeface="맑은 고딕"/>
                          <a:ea typeface="맑은 고딕"/>
                          <a:cs typeface="맑은 고딕"/>
                          <a:solidFill>
                            <a:schemeClr val="tx1"/>
                          </a:solidFill>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r>
                        <a:rPr>
                          <a:solidFill>
                            <a:srgbClr val="111111"/>
                          </a:solidFill>
                          <a:latin typeface="맑은 고딕"/>
                          <a:ea typeface="맑은 고딕"/>
                          <a:cs typeface="맑은 고딕"/>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22229470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187E68C-627E-4C5E-8CDF-B5F477FF8281}"/>
              </a:ext>
            </a:extLst>
          </p:cNvPr>
          <p:cNvSpPr>
            <a:spLocks xmlns:a="http://schemas.openxmlformats.org/drawingml/2006/main" noGrp="1"/>
          </p:cNvSpPr>
          <p:nvPr/>
        </p:nvSpPr>
        <p:spPr>
          <a:xfrm xmlns:a="http://schemas.openxmlformats.org/drawingml/2006/main">
            <a:off x="174567" y="1101012"/>
            <a:ext cx="3893580" cy="307777"/>
          </a:xfrm>
          <a:prstGeom xmlns:a="http://schemas.openxmlformats.org/drawingml/2006/main" prst="rect">
            <a:avLst/>
          </a:prstGeom>
          <a:solidFill xmlns:a="http://schemas.openxmlformats.org/drawingml/2006/main">
            <a:srgbClr val="372472"/>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기타 </a:t>
            </a:r>
            <a:r>
              <a:rPr sz="1400" b="1">
                <a:solidFill>
                  <a:schemeClr val="bg1"/>
                </a:solidFill>
              </a:rPr>
              <a:t>API, </a:t>
            </a:r>
            <a:r>
              <a:rPr sz="1400" b="1">
                <a:solidFill>
                  <a:schemeClr val="bg1"/>
                </a:solidFill>
              </a:rPr>
              <a:t>파일데이터</a:t>
            </a:r>
            <a:endParaRPr sz="1400" b="1">
              <a:solidFill>
                <a:schemeClr val="bg1"/>
              </a:solidFill>
            </a:endParaRPr>
          </a:p>
        </p:txBody>
      </p:sp>
      <p:graphicFrame>
        <p:nvGraphicFramePr>
          <p:cNvPr id="9" name="표 6"/>
          <p:cNvGraphicFramePr/>
          <p:nvPr/>
        </p:nvGraphicFramePr>
        <p:xfrm>
          <a:off xmlns:a="http://schemas.openxmlformats.org/drawingml/2006/main" x="174566" y="1646098"/>
          <a:ext xmlns:a="http://schemas.openxmlformats.org/drawingml/2006/main" cx="11628657" cy="2265680"/>
        </p:xfrm>
        <a:graphic xmlns:a="http://schemas.openxmlformats.org/drawingml/2006/main">
          <a:graphicData uri="http://schemas.openxmlformats.org/drawingml/2006/table">
            <a:tbl>
              <a:tblPr firstRow="1" bandRow="1">
                <a:tableStyleId>{5C22544A-7EE6-4342-B048-85BDC9FD1C3A}</a:tableStyleId>
              </a:tblPr>
              <a:tblGrid>
                <a:gridCol w="821150"/>
                <a:gridCol w="1816388"/>
                <a:gridCol w="8991119"/>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just"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Anthropic Messages API</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marL="0" marR="0" lvl="0" indent="0" algn="just" defTabSz="914400">
                        <a:lnSpc>
                          <a:spcPct val="100000"/>
                        </a:lnSpc>
                        <a:spcBef>
                          <a:spcPts val="0"/>
                        </a:spcBef>
                        <a:spcAft>
                          <a:spcPts val="0"/>
                        </a:spcAft>
                        <a:buClrTx/>
                        <a:buSzTx/>
                        <a:buFontTx/>
                        <a:buNone/>
                      </a:pPr>
                      <a:r>
                        <a:rPr>
                          <a:solidFill>
                            <a:srgbClr val="111111"/>
                          </a:solidFill>
                          <a:latin typeface="맑은 고딕"/>
                          <a:ea typeface="맑은 고딕"/>
                          <a:cs typeface="맑은 고딕"/>
                        </a:rPr>
                        <a:t>Netlify Function에서만 호출해 상품명·컨셉·일정·포함/불포함·홍보문구와 블로그 초안을 구조화한다. API 오류는 성공으로 숨기지 않으며 키는 브라우저에 전달하지 않는다.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2</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브라우저 Local Storage 및 URL-safe 공유 데이터</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endParaRPr/>
                    </a:p>
                  </a:txBody>
                  <a:tcPr marL="91440" marR="91440" marT="45720" marB="45720"/>
                </a:tc>
                <a:tc>
                  <a:txBody>
                    <a:bodyPr/>
                    <a:lstStyle/>
                    <a:p>
                      <a:pPr algn="ctr">
                        <a:buNone/>
                      </a:pPr>
                      <a:r>
                        <a:rPr b="1">
                          <a:solidFill>
                            <a:schemeClr val="bg1"/>
                          </a:solidFill>
                        </a:rPr>
                        <a:t>상세설명</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기획서 저장·백업·공유 링크에 사용한다. 제출·데모에는 실제 고객 개인정보·예약·결제 정보를 저장하지 않는다.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latin typeface="맑은 고딕"/>
                          <a:ea typeface="맑은 고딕"/>
                          <a:cs typeface="맑은 고딕"/>
                          <a:solidFill>
                            <a:schemeClr val="tx1"/>
                          </a:solidFill>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latin typeface="맑은 고딕"/>
                          <a:ea typeface="맑은 고딕"/>
                          <a:cs typeface="맑은 고딕"/>
                          <a:solidFill>
                            <a:schemeClr val="bg1"/>
                          </a:solidFill>
                        </a:rPr>
                        <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r>
                        <a:rPr>
                          <a:solidFill>
                            <a:srgbClr val="111111"/>
                          </a:solidFill>
                          <a:latin typeface="맑은 고딕"/>
                          <a:ea typeface="맑은 고딕"/>
                          <a:cs typeface="맑은 고딕"/>
                        </a:rPr>
                        <a:t/>
                      </a: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latin typeface="맑은 고딕"/>
                          <a:ea typeface="맑은 고딕"/>
                          <a:cs typeface="맑은 고딕"/>
                          <a:solidFill>
                            <a:schemeClr val="bg1"/>
                          </a:solidFill>
                        </a:rPr>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499DBF"/>
                    </a:solidFill>
                  </a:tcPr>
                </a:tc>
                <a:tc>
                  <a:txBody>
                    <a:bodyPr/>
                    <a:lstStyle/>
                    <a:p>
                      <a:pPr algn="just">
                        <a:buNone/>
                      </a:pPr>
                      <a:r>
                        <a:rPr>
                          <a:solidFill>
                            <a:srgbClr val="111111"/>
                          </a:solidFill>
                          <a:latin typeface="맑은 고딕"/>
                          <a:ea typeface="맑은 고딕"/>
                          <a:cs typeface="맑은 고딕"/>
                        </a:rPr>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
        <p:nvSpPr>
          <p:cNvPr id="6" name="직사각형 5">
            <a:extLst xmlns:a="http://schemas.openxmlformats.org/drawingml/2006/main">
              <a:ext uri="{FF2B5EF4-FFF2-40B4-BE49-F238E27FC236}">
                <a16:creationId xmlns:a16="http://schemas.microsoft.com/office/drawing/2014/main" id="{03669267-DDD2-4047-BE98-0F335C36887A}"/>
              </a:ext>
            </a:extLst>
          </p:cNvPr>
          <p:cNvSpPr>
            <a:spLocks xmlns:a="http://schemas.openxmlformats.org/drawingml/2006/main" noGrp="1"/>
          </p:cNvSpPr>
          <p:nvPr/>
        </p:nvSpPr>
        <p:spPr>
          <a:xfrm xmlns:a="http://schemas.openxmlformats.org/drawingml/2006/main">
            <a:off x="0" y="0"/>
            <a:ext cx="0" cy="0"/>
          </a:xfrm>
          <a:prstGeom xmlns:a="http://schemas.openxmlformats.org/drawingml/2006/main" prst="rect">
            <a:avLst/>
          </a:prstGeom>
          <a:noFill xmlns:a="http://schemas.openxmlformats.org/drawingml/2006/main"/>
          <a:ln xmlns:a="http://schemas.openxmlformats.org/drawingml/2006/main" w="0">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Tree>
    <p:extLst>
      <p:ext uri="{BB962C8B-B14F-4D97-AF65-F5344CB8AC3E}">
        <p14:creationId xmlns:p14="http://schemas.microsoft.com/office/powerpoint/2010/main" val="31773564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2"/>
          <p:cNvGraphicFramePr/>
          <p:nvPr/>
        </p:nvGraphicFramePr>
        <p:xfrm>
          <a:off xmlns:a="http://schemas.openxmlformats.org/drawingml/2006/main" x="287250" y="1218429"/>
          <a:ext xmlns:a="http://schemas.openxmlformats.org/drawingml/2006/main" cx="11649825" cy="5074306"/>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2466075">
                <a:tc>
                  <a:txBody>
                    <a:bodyPr/>
                    <a:lstStyle/>
                    <a:p>
                      <a:pPr algn="ctr">
                        <a:buNone/>
                      </a:pPr>
                      <a:r>
                        <a:rPr b="1">
                          <a:solidFill>
                            <a:schemeClr val="bg1"/>
                          </a:solidFill>
                        </a:rPr>
                        <a:t>차별성</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lvl="0" indent="0" algn="just">
                        <a:spcBef>
                          <a:spcPts val="0"/>
                        </a:spcBef>
                        <a:spcAft>
                          <a:spcPts val="0"/>
                        </a:spcAft>
                        <a:buNone/>
                      </a:pPr>
                      <a:r>
                        <a:rPr sz="1800" b="0">
                          <a:solidFill>
                            <a:srgbClr val="111111"/>
                          </a:solidFill>
                          <a:latin typeface="맑은 고딕"/>
                          <a:ea typeface="맑은 고딕"/>
                          <a:cs typeface="맑은 고딕"/>
                        </a:rPr>
                        <a:t>관광지 검색에서 끝나지 않고 실제 여행상품 기획·일정·견적·다채널 홍보 산출물에 동일 데이터를 연결한다. KTO 성공 데이터에만 출처와 활용 필드를 노출하고 fallback은 기본 데이터로 명확히 구분한다. AI 출력은 구조 검증과 안전한 문구 fallback을 거치며 자동 확정·발행하지 않는다. 심사위원은 로그인 없이 공개 URL에서 제주 상품 생성 전 과정을 재현할 수 있다.</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608231">
                <a:tc>
                  <a:txBody>
                    <a:bodyPr/>
                    <a:lstStyle/>
                    <a:p>
                      <a:pPr algn="ctr">
                        <a:buNone/>
                      </a:pPr>
                      <a:r>
                        <a:rPr b="1">
                          <a:solidFill>
                            <a:schemeClr val="bg1"/>
                          </a:solidFill>
                        </a:rPr>
                        <a:t>발전계획</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372472"/>
                    </a:solidFill>
                  </a:tcPr>
                </a:tc>
                <a:tc>
                  <a:txBody>
                    <a:bodyPr/>
                    <a:lstStyle/>
                    <a:p>
                      <a:pPr marL="0" marR="0" lvl="0" indent="0" algn="just" defTabSz="914400">
                        <a:lnSpc>
                          <a:spcPct val="100000"/>
                        </a:lnSpc>
                        <a:spcBef>
                          <a:spcPts val="0"/>
                        </a:spcBef>
                        <a:spcAft>
                          <a:spcPts val="0"/>
                        </a:spcAft>
                        <a:buClrTx/>
                        <a:buSzTx/>
                        <a:buFontTx/>
                        <a:buNone/>
                      </a:pPr>
                      <a:r>
                        <a:rPr sz="1800">
                          <a:solidFill>
                            <a:srgbClr val="111111"/>
                          </a:solidFill>
                          <a:latin typeface="맑은 고딕"/>
                          <a:ea typeface="맑은 고딕"/>
                          <a:cs typeface="맑은 고딕"/>
                        </a:rPr>
                        <a:t>① KTO 상세정보·행사·숙박·음식점 API로 근거 범위를 확장한다. ② 협력사 실제 단가와 객실·차량 수배 정보를 연결해 견적 정확도를 높인다. ③ 팀 검토 이력·권한·버전 관리를 추가한다. ④ 접근성·다국어·지역사업자 공동기획 기능을 단계적으로 검증한다. ⑤ 실제 여행사 업무에서 기획 리드타임과 수정 횟수를 측정해 추천·검토 품질을 개선한다.</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988568962"/>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2026-08-12T06:20:51.7540000Z</dcterms:created>
  <dcterms:modified xsi:type="dcterms:W3CDTF">2026-08-12T06:20:51.7540000Z</dcterms:modified>
</coreProperties>
</file>