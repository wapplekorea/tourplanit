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5c3eb1a1fcc4ad1" /><Relationship Type="http://schemas.openxmlformats.org/officeDocument/2006/relationships/extended-properties" Target="/docProps/app.xml" Id="R3a08ba2d06da44bb" /><Relationship Type="http://schemas.openxmlformats.org/officeDocument/2006/relationships/officeDocument" Target="/ppt/presentation.xml" Id="Rd09142b9027847cb" /></Relationships>
</file>

<file path=ppt/presentation.xml><?xml version="1.0" encoding="utf-8"?>
<p:presentation xmlns:p="http://schemas.openxmlformats.org/presentationml/2006/main">
  <p:sldMasterIdLst>
    <p:sldMasterId xmlns:r="http://schemas.openxmlformats.org/officeDocument/2006/relationships" id="2147483648" r:id="R14abe3ca789248f8"/>
  </p:sldMasterIdLst>
  <p:notesMasterIdLst>
    <p:notesMasterId xmlns:r="http://schemas.openxmlformats.org/officeDocument/2006/relationships" r:id="R8eaa8763e3ee4f58"/>
  </p:notesMasterIdLst>
  <p:sldIdLst>
    <p:sldId xmlns:r="http://schemas.openxmlformats.org/officeDocument/2006/relationships" id="256" r:id="R65cb59f5090e4cd3"/>
    <p:sldId xmlns:r="http://schemas.openxmlformats.org/officeDocument/2006/relationships" id="257" r:id="Rf44f7da7b5234c39"/>
    <p:sldId xmlns:r="http://schemas.openxmlformats.org/officeDocument/2006/relationships" id="258" r:id="R28f5e0b47072416d"/>
    <p:sldId xmlns:r="http://schemas.openxmlformats.org/officeDocument/2006/relationships" id="259" r:id="R2cdfeb5686e4487b"/>
    <p:sldId xmlns:r="http://schemas.openxmlformats.org/officeDocument/2006/relationships" id="260" r:id="Rde7d9cb1f20b4d68"/>
    <p:sldId xmlns:r="http://schemas.openxmlformats.org/officeDocument/2006/relationships" id="261" r:id="R97094d8f39ff46b7"/>
    <p:sldId xmlns:r="http://schemas.openxmlformats.org/officeDocument/2006/relationships" id="262" r:id="R36f6c4b928ae474c"/>
    <p:sldId xmlns:r="http://schemas.openxmlformats.org/officeDocument/2006/relationships" id="263" r:id="Rd207ceddaf6b44f2"/>
    <p:sldId xmlns:r="http://schemas.openxmlformats.org/officeDocument/2006/relationships" id="264" r:id="Rde1ac7c325f9468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b00062114565455e" /><Relationship Type="http://schemas.openxmlformats.org/officeDocument/2006/relationships/slideMaster" Target="/ppt/slideMasters/slideMaster1.xml" Id="R14abe3ca789248f8" /><Relationship Type="http://schemas.openxmlformats.org/officeDocument/2006/relationships/notesMaster" Target="/ppt/notesMasters/notesMaster1.xml" Id="R8eaa8763e3ee4f58" /><Relationship Type="http://schemas.openxmlformats.org/officeDocument/2006/relationships/presProps" Target="/ppt/presProps.xml" Id="Rbbbea4fa5e0348d2" /><Relationship Type="http://schemas.openxmlformats.org/officeDocument/2006/relationships/viewProps" Target="/ppt/viewProps.xml" Id="R04c397ef8ad5454a" /><Relationship Type="http://schemas.openxmlformats.org/officeDocument/2006/relationships/tableStyles" Target="/ppt/tableStyles.xml" Id="Rd2dad20dadea412d" /><Relationship Type="http://schemas.openxmlformats.org/officeDocument/2006/relationships/slide" Target="/ppt/slides/slide1.xml" Id="R65cb59f5090e4cd3" /><Relationship Type="http://schemas.openxmlformats.org/officeDocument/2006/relationships/slide" Target="/ppt/slides/slide2.xml" Id="Rf44f7da7b5234c39" /><Relationship Type="http://schemas.openxmlformats.org/officeDocument/2006/relationships/slide" Target="/ppt/slides/slide3.xml" Id="R28f5e0b47072416d" /><Relationship Type="http://schemas.openxmlformats.org/officeDocument/2006/relationships/slide" Target="/ppt/slides/slide4.xml" Id="R2cdfeb5686e4487b" /><Relationship Type="http://schemas.openxmlformats.org/officeDocument/2006/relationships/slide" Target="/ppt/slides/slide5.xml" Id="Rde7d9cb1f20b4d68" /><Relationship Type="http://schemas.openxmlformats.org/officeDocument/2006/relationships/slide" Target="/ppt/slides/slide6.xml" Id="R97094d8f39ff46b7" /><Relationship Type="http://schemas.openxmlformats.org/officeDocument/2006/relationships/slide" Target="/ppt/slides/slide7.xml" Id="R36f6c4b928ae474c" /><Relationship Type="http://schemas.openxmlformats.org/officeDocument/2006/relationships/slide" Target="/ppt/slides/slide8.xml" Id="Rd207ceddaf6b44f2" /><Relationship Type="http://schemas.openxmlformats.org/officeDocument/2006/relationships/slide" Target="/ppt/slides/slide9.xml" Id="Rde1ac7c325f946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ca2db4cc364a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d2c7e9a1e64253" /><Relationship Type="http://schemas.openxmlformats.org/officeDocument/2006/relationships/notesMaster" Target="/ppt/notesMasters/notesMaster1.xml" Id="R97a02ad9ad9f48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d2709c02064025" /><Relationship Type="http://schemas.openxmlformats.org/officeDocument/2006/relationships/notesMaster" Target="/ppt/notesMasters/notesMaster1.xml" Id="Rdb2c0f6eada84b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08d04bc14c42db" /><Relationship Type="http://schemas.openxmlformats.org/officeDocument/2006/relationships/notesMaster" Target="/ppt/notesMasters/notesMaster1.xml" Id="R770ae67042d94e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c78fdf9f2f49d8" /><Relationship Type="http://schemas.openxmlformats.org/officeDocument/2006/relationships/notesMaster" Target="/ppt/notesMasters/notesMaster1.xml" Id="Rfa009dc41b9c47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0a00c523b44c52" /><Relationship Type="http://schemas.openxmlformats.org/officeDocument/2006/relationships/notesMaster" Target="/ppt/notesMasters/notesMaster1.xml" Id="R7c6589af56e74c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f28ceb52af4ffb" /><Relationship Type="http://schemas.openxmlformats.org/officeDocument/2006/relationships/notesMaster" Target="/ppt/notesMasters/notesMaster1.xml" Id="R9cbe1977d8e748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d6666590f64958" /><Relationship Type="http://schemas.openxmlformats.org/officeDocument/2006/relationships/notesMaster" Target="/ppt/notesMasters/notesMaster1.xml" Id="R2cb69b4ccd5e46ef"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35bf4646474efd" /><Relationship Type="http://schemas.openxmlformats.org/officeDocument/2006/relationships/notesMaster" Target="/ppt/notesMasters/notesMaster1.xml" Id="R307d426dcca34b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fce3039dd94e93" /><Relationship Type="http://schemas.openxmlformats.org/officeDocument/2006/relationships/notesMaster" Target="/ppt/notesMasters/notesMaster1.xml" Id="R29236ce7930b4a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Official template: https://drive.google.com/file/d/10fxZ7pK_l1n3TMkWnYQQss8jkM85-hJV/view</a:t>
            </a:r>
          </a:p>
          <a:p xmlns:a="http://schemas.openxmlformats.org/drawingml/2006/main">
            <a:r>
              <a:t>Official notice: https://lowly-polyanthus-1fb.notion.site/2026-3a75dce406e38034a9a8d058a1b55596</a:t>
            </a:r>
          </a:p>
          <a:p xmlns:a="http://schemas.openxmlformats.org/drawingml/2006/main">
            <a:r>
              <a:t>Official challenge list: https://www.hallym.ac.kr/bbs/hlsw/335/231332/download.do</a:t>
            </a:r>
          </a:p>
          <a:p xmlns:a="http://schemas.openxmlformats.org/drawingml/2006/main">
            <a:r>
              <a:t>Production service: https://tourplanit.netlify.app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c7cf731c4dc47ae" /><Relationship Type="http://schemas.openxmlformats.org/officeDocument/2006/relationships/image" Target="/ppt/media/image.png" Id="R3a389fa0deb54e9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c9093fa3af4152" /><Relationship Type="http://schemas.openxmlformats.org/officeDocument/2006/relationships/image" Target="/ppt/media/image2.png" Id="Ra7c9e34f30794cd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7af126fb3a44036" /><Relationship Type="http://schemas.openxmlformats.org/officeDocument/2006/relationships/image" Target="/ppt/media/image3.png" Id="R1a47ce93e3de453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0266e29394643dd" /><Relationship Type="http://schemas.openxmlformats.org/officeDocument/2006/relationships/image" Target="/ppt/media/image4.png" Id="Rb345707d160f4e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3c7dcf1417b4c9e" /><Relationship Type="http://schemas.openxmlformats.org/officeDocument/2006/relationships/image" Target="/ppt/media/image5.png" Id="R1260b829c2e14ea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51c0280dac4917" /><Relationship Type="http://schemas.openxmlformats.org/officeDocument/2006/relationships/image" Target="/ppt/media/image6.png" Id="Rfd09c5d5ba054f8c"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c546a3982834574" /><Relationship Type="http://schemas.openxmlformats.org/officeDocument/2006/relationships/image" Target="/ppt/media/image7.png" Id="Rbeb4010e027c42d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b23ffe2fa44f4d2e" /><Relationship Type="http://schemas.openxmlformats.org/officeDocument/2006/relationships/image" Target="/ppt/media/image8.png" Id="R15d3e6119942418e" /></Relationships>
</file>

<file path=ppt/slideLayouts/slideLayout1.xml><?xml version="1.0" encoding="utf-8"?>
<p:sldLayout xmlns:p="http://schemas.openxmlformats.org/presentationml/2006/main" preserve="1" userDrawn="1">
  <p:cSld name="표지">
    <p:spTree>
      <p:nvGrpSpPr>
        <p:cNvPr id="1" name=""/>
        <p:cNvGrpSpPr/>
        <p:nvPr/>
      </p:nvGrpSpPr>
      <p:grpSpPr>
        <a:xfrm xmlns:a="http://schemas.openxmlformats.org/drawingml/2006/main"/>
      </p:grpSpPr>
      <p:pic>
        <p:nvPicPr>
          <p:cNvPr id="2" name="그림 2"/>
          <p:cNvPicPr>
            <a:picLocks xmlns:a="http://schemas.openxmlformats.org/drawingml/2006/main" noChangeAspect="1"/>
          </p:cNvPicPr>
          <p:nvPr/>
        </p:nvPicPr>
        <p:blipFill>
          <a:blip xmlns:r="http://schemas.openxmlformats.org/officeDocument/2006/relationships" xmlns:a="http://schemas.openxmlformats.org/drawingml/2006/main" r:embed="R3a389fa0deb54e9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Tree>
  </p:cSld>
</p:sldLayout>
</file>

<file path=ppt/slideLayouts/slideLayout2.xml><?xml version="1.0" encoding="utf-8"?>
<p:sldLayout xmlns:p="http://schemas.openxmlformats.org/presentationml/2006/main" type="blank" preserve="1">
  <p:cSld name="서비스 소개">
    <p:spTree>
      <p:nvGrpSpPr>
        <p:cNvPr id="1" name=""/>
        <p:cNvGrpSpPr/>
        <p:nvPr/>
      </p:nvGrpSpPr>
      <p:grpSpPr>
        <a:xfrm xmlns:a="http://schemas.openxmlformats.org/drawingml/2006/main"/>
      </p:grpSpPr>
      <p:pic>
        <p:nvPicPr>
          <p:cNvPr id="2" name="그림 1"/>
          <p:cNvPicPr>
            <a:picLocks xmlns:a="http://schemas.openxmlformats.org/drawingml/2006/main" noChangeAspect="1"/>
          </p:cNvPicPr>
          <p:nvPr/>
        </p:nvPicPr>
        <p:blipFill>
          <a:blip xmlns:r="http://schemas.openxmlformats.org/officeDocument/2006/relationships" xmlns:a="http://schemas.openxmlformats.org/drawingml/2006/main" r:embed="Ra7c9e34f30794cdf"/>
          <a:stretch xmlns:a="http://schemas.openxmlformats.org/drawingml/2006/main">
            <a:fillRect l="0" t="0" r="0" b="0"/>
          </a:stretch>
        </p:blipFill>
        <p:spPr>
          <a:xfrm xmlns:a="http://schemas.openxmlformats.org/drawingml/2006/main">
            <a:off x="0" y="0"/>
            <a:ext cx="12146070" cy="6801799"/>
          </a:xfrm>
          <a:prstGeom xmlns:a="http://schemas.openxmlformats.org/drawingml/2006/main" prst="rect">
            <a:avLst/>
          </a:prstGeom>
        </p:spPr>
      </p:pic>
    </p:spTree>
  </p:cSld>
</p:sldLayout>
</file>

<file path=ppt/slideLayouts/slideLayout3.xml><?xml version="1.0" encoding="utf-8"?>
<p:sldLayout xmlns:p="http://schemas.openxmlformats.org/presentationml/2006/main" type="blank" preserve="1">
  <p:cSld name="해시태그 연계 핵심 기능별 흐름도">
    <p:spTree>
      <p:nvGrpSpPr>
        <p:cNvPr id="1" name=""/>
        <p:cNvGrpSpPr/>
        <p:nvPr/>
      </p:nvGrpSpPr>
      <p:grpSpPr>
        <a:xfrm xmlns:a="http://schemas.openxmlformats.org/drawingml/2006/main"/>
      </p:grpSpPr>
      <p:pic>
        <p:nvPicPr>
          <p:cNvPr id="2" name="그림 4"/>
          <p:cNvPicPr>
            <a:picLocks xmlns:a="http://schemas.openxmlformats.org/drawingml/2006/main" noChangeAspect="1"/>
          </p:cNvPicPr>
          <p:nvPr/>
        </p:nvPicPr>
        <p:blipFill>
          <a:blip xmlns:r="http://schemas.openxmlformats.org/officeDocument/2006/relationships" xmlns:a="http://schemas.openxmlformats.org/drawingml/2006/main" r:embed="R1a47ce93e3de453c"/>
          <a:stretch xmlns:a="http://schemas.openxmlformats.org/drawingml/2006/main">
            <a:fillRect l="0" t="0" r="0" b="0"/>
          </a:stretch>
        </p:blipFill>
        <p:spPr>
          <a:xfrm xmlns:a="http://schemas.openxmlformats.org/drawingml/2006/main">
            <a:off x="0" y="0"/>
            <a:ext cx="12146070" cy="6820852"/>
          </a:xfrm>
          <a:prstGeom xmlns:a="http://schemas.openxmlformats.org/drawingml/2006/main" prst="rect">
            <a:avLst/>
          </a:prstGeom>
        </p:spPr>
      </p:pic>
    </p:spTree>
  </p:cSld>
</p:sldLayout>
</file>

<file path=ppt/slideLayouts/slideLayout4.xml><?xml version="1.0" encoding="utf-8"?>
<p:sldLayout xmlns:p="http://schemas.openxmlformats.org/presentationml/2006/main" type="blank" preserve="1">
  <p:cSld name="서비스 관련 이미지">
    <p:spTree>
      <p:nvGrpSpPr>
        <p:cNvPr id="1" name=""/>
        <p:cNvGrpSpPr/>
        <p:nvPr/>
      </p:nvGrpSpPr>
      <p:grpSpPr>
        <a:xfrm xmlns:a="http://schemas.openxmlformats.org/drawingml/2006/main"/>
      </p:grpSpPr>
      <p:pic>
        <p:nvPicPr>
          <p:cNvPr id="2" name="그림 9"/>
          <p:cNvPicPr>
            <a:picLocks xmlns:a="http://schemas.openxmlformats.org/drawingml/2006/main" noChangeAspect="1"/>
          </p:cNvPicPr>
          <p:nvPr/>
        </p:nvPicPr>
        <p:blipFill>
          <a:blip xmlns:r="http://schemas.openxmlformats.org/officeDocument/2006/relationships" xmlns:a="http://schemas.openxmlformats.org/drawingml/2006/main" r:embed="Rb345707d160f4e4b"/>
          <a:stretch xmlns:a="http://schemas.openxmlformats.org/drawingml/2006/main">
            <a:fillRect l="0" t="0" r="0" b="0"/>
          </a:stretch>
        </p:blipFill>
        <p:spPr>
          <a:xfrm xmlns:a="http://schemas.openxmlformats.org/drawingml/2006/main">
            <a:off x="0" y="0"/>
            <a:ext cx="12146070" cy="6849431"/>
          </a:xfrm>
          <a:prstGeom xmlns:a="http://schemas.openxmlformats.org/drawingml/2006/main" prst="rect">
            <a:avLst/>
          </a:prstGeom>
        </p:spPr>
      </p:pic>
    </p:spTree>
  </p:cSld>
</p:sldLayout>
</file>

<file path=ppt/slideLayouts/slideLayout5.xml><?xml version="1.0" encoding="utf-8"?>
<p:sldLayout xmlns:p="http://schemas.openxmlformats.org/presentationml/2006/main" type="blank" preserve="1">
  <p:cSld name="데이터 활용(한국관광공사 OpenAPI)">
    <p:spTree>
      <p:nvGrpSpPr>
        <p:cNvPr id="1" name=""/>
        <p:cNvGrpSpPr/>
        <p:nvPr/>
      </p:nvGrpSpPr>
      <p:grpSpPr>
        <a:xfrm xmlns:a="http://schemas.openxmlformats.org/drawingml/2006/main"/>
      </p:grpSpPr>
      <p:pic>
        <p:nvPicPr>
          <p:cNvPr id="2" name="그림 3"/>
          <p:cNvPicPr>
            <a:picLocks xmlns:a="http://schemas.openxmlformats.org/drawingml/2006/main" noChangeAspect="1"/>
          </p:cNvPicPr>
          <p:nvPr/>
        </p:nvPicPr>
        <p:blipFill>
          <a:blip xmlns:r="http://schemas.openxmlformats.org/officeDocument/2006/relationships" xmlns:a="http://schemas.openxmlformats.org/drawingml/2006/main" r:embed="R1260b829c2e14ea4"/>
          <a:stretch xmlns:a="http://schemas.openxmlformats.org/drawingml/2006/main">
            <a:fillRect l="0" t="0" r="0" b="0"/>
          </a:stretch>
        </p:blipFill>
        <p:spPr>
          <a:xfrm xmlns:a="http://schemas.openxmlformats.org/drawingml/2006/main">
            <a:off x="0" y="0"/>
            <a:ext cx="12107965" cy="6830378"/>
          </a:xfrm>
          <a:prstGeom xmlns:a="http://schemas.openxmlformats.org/drawingml/2006/main" prst="rect">
            <a:avLst/>
          </a:prstGeom>
        </p:spPr>
      </p:pic>
    </p:spTree>
  </p:cSld>
</p:sldLayout>
</file>

<file path=ppt/slideLayouts/slideLayout6.xml><?xml version="1.0" encoding="utf-8"?>
<p:sldLayout xmlns:p="http://schemas.openxmlformats.org/presentationml/2006/main" type="blank" preserve="1">
  <p:cSld name="데이터 활용(기타)">
    <p:spTree>
      <p:nvGrpSpPr>
        <p:cNvPr id="1" name=""/>
        <p:cNvGrpSpPr/>
        <p:nvPr/>
      </p:nvGrpSpPr>
      <p:grpSpPr>
        <a:xfrm xmlns:a="http://schemas.openxmlformats.org/drawingml/2006/main"/>
      </p:grpSpPr>
      <p:pic>
        <p:nvPicPr>
          <p:cNvPr id="2" name="그림 3"/>
          <p:cNvPicPr>
            <a:picLocks xmlns:a="http://schemas.openxmlformats.org/drawingml/2006/main" noChangeAspect="1"/>
          </p:cNvPicPr>
          <p:nvPr/>
        </p:nvPicPr>
        <p:blipFill>
          <a:blip xmlns:r="http://schemas.openxmlformats.org/officeDocument/2006/relationships" xmlns:a="http://schemas.openxmlformats.org/drawingml/2006/main" r:embed="Rfd09c5d5ba054f8c"/>
          <a:stretch xmlns:a="http://schemas.openxmlformats.org/drawingml/2006/main">
            <a:fillRect l="0" t="0" r="0" b="0"/>
          </a:stretch>
        </p:blipFill>
        <p:spPr>
          <a:xfrm xmlns:a="http://schemas.openxmlformats.org/drawingml/2006/main">
            <a:off x="0" y="0"/>
            <a:ext cx="12127017" cy="6820852"/>
          </a:xfrm>
          <a:prstGeom xmlns:a="http://schemas.openxmlformats.org/drawingml/2006/main" prst="rect">
            <a:avLst/>
          </a:prstGeom>
        </p:spPr>
      </p:pic>
    </p:spTree>
  </p:cSld>
</p:sldLayout>
</file>

<file path=ppt/slideLayouts/slideLayout7.xml><?xml version="1.0" encoding="utf-8"?>
<p:sldLayout xmlns:p="http://schemas.openxmlformats.org/presentationml/2006/main" type="blank" preserve="1">
  <p:cSld name="서비스 차별성&amp;발전계획">
    <p:spTree>
      <p:nvGrpSpPr>
        <p:cNvPr id="1" name=""/>
        <p:cNvGrpSpPr/>
        <p:nvPr/>
      </p:nvGrpSpPr>
      <p:grpSpPr>
        <a:xfrm xmlns:a="http://schemas.openxmlformats.org/drawingml/2006/main"/>
      </p:grpSpPr>
      <p:pic>
        <p:nvPicPr>
          <p:cNvPr id="2" name="그림 4"/>
          <p:cNvPicPr>
            <a:picLocks xmlns:a="http://schemas.openxmlformats.org/drawingml/2006/main" noChangeAspect="1"/>
          </p:cNvPicPr>
          <p:nvPr/>
        </p:nvPicPr>
        <p:blipFill>
          <a:blip xmlns:r="http://schemas.openxmlformats.org/officeDocument/2006/relationships" xmlns:a="http://schemas.openxmlformats.org/drawingml/2006/main" r:embed="Rbeb4010e027c42db"/>
          <a:stretch xmlns:a="http://schemas.openxmlformats.org/drawingml/2006/main">
            <a:fillRect l="0" t="0" r="0" b="0"/>
          </a:stretch>
        </p:blipFill>
        <p:spPr>
          <a:xfrm xmlns:a="http://schemas.openxmlformats.org/drawingml/2006/main">
            <a:off x="0" y="0"/>
            <a:ext cx="12136544" cy="6839905"/>
          </a:xfrm>
          <a:prstGeom xmlns:a="http://schemas.openxmlformats.org/drawingml/2006/main" prst="rect">
            <a:avLst/>
          </a:prstGeom>
        </p:spPr>
      </p:pic>
    </p:spTree>
  </p:cSld>
</p:sldLayout>
</file>

<file path=ppt/slideLayouts/slideLayout8.xml><?xml version="1.0" encoding="utf-8"?>
<p:sldLayout xmlns:p="http://schemas.openxmlformats.org/presentationml/2006/main" type="blank" preserve="1">
  <p:cSld name="1_빈 화면">
    <p:spTree>
      <p:nvGrpSpPr>
        <p:cNvPr id="1" name=""/>
        <p:cNvGrpSpPr/>
        <p:nvPr/>
      </p:nvGrpSpPr>
      <p:grpSpPr>
        <a:xfrm xmlns:a="http://schemas.openxmlformats.org/drawingml/2006/main"/>
      </p:grpSpPr>
      <p:sp>
        <p:nvSpPr>
          <p:cNvPr id="2" name="날짜 개체 틀 1">
            <a:extLst xmlns:a="http://schemas.openxmlformats.org/drawingml/2006/main">
              <a:ext uri="{FF2B5EF4-FFF2-40B4-BE49-F238E27FC236}">
                <a16:creationId xmlns:a16="http://schemas.microsoft.com/office/drawing/2014/main" id="{A56328CD-49AB-4108-8CD9-2DC30A0002F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4A38FB6A-844E-4645-B6B8-D2945F9927BB}" type="datetimeFigureOut">
              <a:t>2026-08-11</a:t>
            </a:fld>
            <a:endParaRPr/>
          </a:p>
        </p:txBody>
      </p:sp>
      <p:sp>
        <p:nvSpPr>
          <p:cNvPr id="3" name="바닥글 개체 틀 2">
            <a:extLst xmlns:a="http://schemas.openxmlformats.org/drawingml/2006/main">
              <a:ext uri="{FF2B5EF4-FFF2-40B4-BE49-F238E27FC236}">
                <a16:creationId xmlns:a16="http://schemas.microsoft.com/office/drawing/2014/main" id="{F1BB198D-9F6F-4AE3-9815-2EC814F407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슬라이드 번호 개체 틀 3">
            <a:extLst xmlns:a="http://schemas.openxmlformats.org/drawingml/2006/main">
              <a:ext uri="{FF2B5EF4-FFF2-40B4-BE49-F238E27FC236}">
                <a16:creationId xmlns:a16="http://schemas.microsoft.com/office/drawing/2014/main" id="{94B95D39-92E9-4C76-ABC8-A6950B9DFA4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38832701-68F9-4777-ABB9-C14E97591467}" type="slidenum">
              <a:t>‹#›</a:t>
            </a:fld>
            <a:endParaRPr/>
          </a:p>
        </p:txBody>
      </p:sp>
      <p:pic>
        <p:nvPicPr>
          <p:cNvPr id="9" name="그림 4"/>
          <p:cNvPicPr>
            <a:picLocks xmlns:a="http://schemas.openxmlformats.org/drawingml/2006/main" noChangeAspect="1"/>
          </p:cNvPicPr>
          <p:nvPr/>
        </p:nvPicPr>
        <p:blipFill>
          <a:blip xmlns:r="http://schemas.openxmlformats.org/officeDocument/2006/relationships" xmlns:a="http://schemas.openxmlformats.org/drawingml/2006/main" r:embed="R15d3e6119942418e"/>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9347a0736284da5" /><Relationship Type="http://schemas.openxmlformats.org/officeDocument/2006/relationships/slideLayout" Target="/ppt/slideLayouts/slideLayout1.xml" Id="Rc860a5b76b93487d" /><Relationship Type="http://schemas.openxmlformats.org/officeDocument/2006/relationships/slideLayout" Target="/ppt/slideLayouts/slideLayout2.xml" Id="R4af4cc8199904cfe" /><Relationship Type="http://schemas.openxmlformats.org/officeDocument/2006/relationships/slideLayout" Target="/ppt/slideLayouts/slideLayout3.xml" Id="R4cd742121ed94d90" /><Relationship Type="http://schemas.openxmlformats.org/officeDocument/2006/relationships/slideLayout" Target="/ppt/slideLayouts/slideLayout4.xml" Id="R984e7c5dc25647e6" /><Relationship Type="http://schemas.openxmlformats.org/officeDocument/2006/relationships/slideLayout" Target="/ppt/slideLayouts/slideLayout5.xml" Id="Re6759a1e542a40eb" /><Relationship Type="http://schemas.openxmlformats.org/officeDocument/2006/relationships/slideLayout" Target="/ppt/slideLayouts/slideLayout6.xml" Id="R18dc94fce2ff4ec1" /><Relationship Type="http://schemas.openxmlformats.org/officeDocument/2006/relationships/slideLayout" Target="/ppt/slideLayouts/slideLayout7.xml" Id="Rdc1305c6dc72470b" /><Relationship Type="http://schemas.openxmlformats.org/officeDocument/2006/relationships/slideLayout" Target="/ppt/slideLayouts/slideLayout8.xml" Id="R80fd84ed19d84ea8"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제목 개체 틀 1">
            <a:extLst xmlns:a="http://schemas.openxmlformats.org/drawingml/2006/main">
              <a:ext uri="{FF2B5EF4-FFF2-40B4-BE49-F238E27FC236}">
                <a16:creationId xmlns:a16="http://schemas.microsoft.com/office/drawing/2014/main" id="{8B8DABBD-8888-493D-B224-63274CCC4B0F}"/>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마스터 제목 스타일 편집</a:t>
            </a:r>
          </a:p>
        </p:txBody>
      </p:sp>
      <p:sp>
        <p:nvSpPr>
          <p:cNvPr id="3" name="텍스트 개체 틀 2">
            <a:extLst xmlns:a="http://schemas.openxmlformats.org/drawingml/2006/main">
              <a:ext uri="{FF2B5EF4-FFF2-40B4-BE49-F238E27FC236}">
                <a16:creationId xmlns:a16="http://schemas.microsoft.com/office/drawing/2014/main" id="{1A0D34E8-9D38-4D97-AD3A-A7DD2F873FF7}"/>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마스터 텍스트 스타일 편집</a:t>
            </a:r>
          </a:p>
          <a:p xmlns:a="http://schemas.openxmlformats.org/drawingml/2006/main">
            <a:pPr lvl="1">
              <a:buNone/>
            </a:pPr>
            <a:r>
              <a:t>둘째 수준</a:t>
            </a:r>
          </a:p>
          <a:p xmlns:a="http://schemas.openxmlformats.org/drawingml/2006/main">
            <a:pPr lvl="2">
              <a:buNone/>
            </a:pPr>
            <a:r>
              <a:t>셋째 수준</a:t>
            </a:r>
          </a:p>
          <a:p xmlns:a="http://schemas.openxmlformats.org/drawingml/2006/main">
            <a:pPr lvl="3">
              <a:buNone/>
            </a:pPr>
            <a:r>
              <a:t>넷째 수준</a:t>
            </a:r>
          </a:p>
          <a:p xmlns:a="http://schemas.openxmlformats.org/drawingml/2006/main">
            <a:pPr lvl="4">
              <a:buNone/>
            </a:pPr>
            <a:r>
              <a:t>다섯째 수준</a:t>
            </a:r>
          </a:p>
        </p:txBody>
      </p:sp>
      <p:sp>
        <p:nvSpPr>
          <p:cNvPr id="4" name="날짜 개체 틀 3">
            <a:extLst xmlns:a="http://schemas.openxmlformats.org/drawingml/2006/main">
              <a:ext uri="{FF2B5EF4-FFF2-40B4-BE49-F238E27FC236}">
                <a16:creationId xmlns:a16="http://schemas.microsoft.com/office/drawing/2014/main" id="{D4F7CE60-A505-44CE-88B9-6E44C9852509}"/>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4A38FB6A-844E-4645-B6B8-D2945F9927BB}" type="datetimeFigureOut">
              <a:t>2026-08-11</a:t>
            </a:fld>
            <a:endParaRPr/>
          </a:p>
        </p:txBody>
      </p:sp>
      <p:sp>
        <p:nvSpPr>
          <p:cNvPr id="5" name="바닥글 개체 틀 4">
            <a:extLst xmlns:a="http://schemas.openxmlformats.org/drawingml/2006/main">
              <a:ext uri="{FF2B5EF4-FFF2-40B4-BE49-F238E27FC236}">
                <a16:creationId xmlns:a16="http://schemas.microsoft.com/office/drawing/2014/main" id="{D239C106-6276-431E-B65E-BB96EDDBA183}"/>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슬라이드 번호 개체 틀 5">
            <a:extLst xmlns:a="http://schemas.openxmlformats.org/drawingml/2006/main">
              <a:ext uri="{FF2B5EF4-FFF2-40B4-BE49-F238E27FC236}">
                <a16:creationId xmlns:a16="http://schemas.microsoft.com/office/drawing/2014/main" id="{277697B3-3FD2-4BBA-A957-40D034AD5B8A}"/>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38832701-68F9-4777-ABB9-C14E97591467}"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860a5b76b93487d"/>
    <p:sldLayoutId xmlns:r="http://schemas.openxmlformats.org/officeDocument/2006/relationships" id="2147483650" r:id="R4af4cc8199904cfe"/>
    <p:sldLayoutId xmlns:r="http://schemas.openxmlformats.org/officeDocument/2006/relationships" id="2147483651" r:id="R4cd742121ed94d90"/>
    <p:sldLayoutId xmlns:r="http://schemas.openxmlformats.org/officeDocument/2006/relationships" id="2147483652" r:id="R984e7c5dc25647e6"/>
    <p:sldLayoutId xmlns:r="http://schemas.openxmlformats.org/officeDocument/2006/relationships" id="2147483653" r:id="Re6759a1e542a40eb"/>
    <p:sldLayoutId xmlns:r="http://schemas.openxmlformats.org/officeDocument/2006/relationships" id="2147483654" r:id="R18dc94fce2ff4ec1"/>
    <p:sldLayoutId xmlns:r="http://schemas.openxmlformats.org/officeDocument/2006/relationships" id="2147483655" r:id="Rdc1305c6dc72470b"/>
    <p:sldLayoutId xmlns:r="http://schemas.openxmlformats.org/officeDocument/2006/relationships" id="2147483656" r:id="R80fd84ed19d84ea8"/>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8be1b4f8e334667" /><Relationship Type="http://schemas.openxmlformats.org/officeDocument/2006/relationships/notesSlide" Target="/ppt/notesSlides/notesSlide1.xml" Id="R685a6a43625f449c"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1f8618e7f101447e" /><Relationship Type="http://schemas.openxmlformats.org/officeDocument/2006/relationships/notesSlide" Target="/ppt/notesSlides/notesSlide2.xml" Id="Rd1e5e95b8b53400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f058346c6c424b96" /><Relationship Type="http://schemas.openxmlformats.org/officeDocument/2006/relationships/notesSlide" Target="/ppt/notesSlides/notesSlide3.xml" Id="R9b955dc8af184865"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b4b1942892f24a08" /><Relationship Type="http://schemas.openxmlformats.org/officeDocument/2006/relationships/notesSlide" Target="/ppt/notesSlides/notesSlide4.xml" Id="R810b1ddc10f343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c11a829fe86f43c2" /><Relationship Type="http://schemas.openxmlformats.org/officeDocument/2006/relationships/image" Target="/ppt/media/image.jpeg" Id="R7866c633c3074f60" /><Relationship Type="http://schemas.openxmlformats.org/officeDocument/2006/relationships/image" Target="/ppt/media/image2.jpeg" Id="R02f1b836a516480f" /><Relationship Type="http://schemas.openxmlformats.org/officeDocument/2006/relationships/image" Target="/ppt/media/image3.jpeg" Id="R0d123e1f94c848ff" /><Relationship Type="http://schemas.openxmlformats.org/officeDocument/2006/relationships/image" Target="/ppt/media/image4.jpeg" Id="R6f77869b5d5a42d9" /><Relationship Type="http://schemas.openxmlformats.org/officeDocument/2006/relationships/notesSlide" Target="/ppt/notesSlides/notesSlide5.xml" Id="R489097130b9d4f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4.xml" Id="R53adb7f7bcea4667" /><Relationship Type="http://schemas.openxmlformats.org/officeDocument/2006/relationships/image" Target="/ppt/media/image5.jpeg" Id="R5ded60a7ef9d4422" /><Relationship Type="http://schemas.openxmlformats.org/officeDocument/2006/relationships/image" Target="/ppt/media/image6.jpeg" Id="R15ec09ec4fe84952" /><Relationship Type="http://schemas.openxmlformats.org/officeDocument/2006/relationships/image" Target="/ppt/media/image7.jpeg" Id="R68cb51f6ce4743ee" /><Relationship Type="http://schemas.openxmlformats.org/officeDocument/2006/relationships/image" Target="/ppt/media/image8.jpeg" Id="Rff77e1133fdc434d" /><Relationship Type="http://schemas.openxmlformats.org/officeDocument/2006/relationships/image" Target="/ppt/media/image9.jpeg" Id="R17edcc3128ff416f" /><Relationship Type="http://schemas.openxmlformats.org/officeDocument/2006/relationships/notesSlide" Target="/ppt/notesSlides/notesSlide6.xml" Id="R435738eb158b46bb" /></Relationships>
</file>

<file path=ppt/slides/_rels/slide7.xml.rels>&#65279;<?xml version="1.0" encoding="utf-8"?><Relationships xmlns="http://schemas.openxmlformats.org/package/2006/relationships"><Relationship Type="http://schemas.openxmlformats.org/officeDocument/2006/relationships/slideLayout" Target="/ppt/slideLayouts/slideLayout5.xml" Id="R3ea41d0a96e948a9" /><Relationship Type="http://schemas.openxmlformats.org/officeDocument/2006/relationships/notesSlide" Target="/ppt/notesSlides/notesSlide7.xml" Id="R15e06810be5544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720a004cfec4be0" /><Relationship Type="http://schemas.openxmlformats.org/officeDocument/2006/relationships/notesSlide" Target="/ppt/notesSlides/notesSlide8.xml" Id="R9bb1e8839f2440d2"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0f7c998ddd314f61" /><Relationship Type="http://schemas.openxmlformats.org/officeDocument/2006/relationships/notesSlide" Target="/ppt/notesSlides/notesSlide9.xml" Id="Rd390566149f94a09" /></Relationships>
</file>

<file path=ppt/slides/slide1.xml><?xml version="1.0" encoding="utf-8"?>
<p:sld xmlns:p="http://schemas.openxmlformats.org/presentationml/2006/main">
  <p:cSld>
    <p:bg>
      <p:bgPr>
        <a:gradFill xmlns:a="http://schemas.openxmlformats.org/drawingml/2006/main" rotWithShape="1">
          <a:gsLst>
            <a:gs pos="0">
              <a:srgbClr val="401AC1"/>
            </a:gs>
            <a:gs pos="100000">
              <a:srgbClr val="280A41"/>
            </a:gs>
            <a:gs pos="75000">
              <a:srgbClr val="230A3A"/>
            </a:gs>
          </a:gsLst>
          <a:lin ang="2700000" scaled="1"/>
          <a:tileRect/>
        </a:gradFill>
      </p:bgPr>
    </p:bg>
    <p:spTree>
      <p:nvGrpSpPr>
        <p:cNvPr id="1" name=""/>
        <p:cNvGrpSpPr/>
        <p:nvPr/>
      </p:nvGrpSpPr>
      <p:grpSpPr>
        <a:xfrm xmlns:a="http://schemas.openxmlformats.org/drawingml/2006/main"/>
      </p:grpSpPr>
      <p:graphicFrame>
        <p:nvGraphicFramePr>
          <p:cNvPr id="2" name="표 5"/>
          <p:cNvGraphicFramePr/>
          <p:nvPr/>
        </p:nvGraphicFramePr>
        <p:xfrm>
          <a:off xmlns:a="http://schemas.openxmlformats.org/drawingml/2006/main" x="527397" y="4563687"/>
          <a:ext xmlns:a="http://schemas.openxmlformats.org/drawingml/2006/main" cx="6712988" cy="1112210"/>
        </p:xfrm>
        <a:graphic xmlns:a="http://schemas.openxmlformats.org/drawingml/2006/main">
          <a:graphicData uri="http://schemas.openxmlformats.org/drawingml/2006/table">
            <a:tbl>
              <a:tblPr firstRow="1" bandRow="1">
                <a:tableStyleId>{5C22544A-7EE6-4342-B048-85BDC9FD1C3A}</a:tableStyleId>
              </a:tblPr>
              <a:tblGrid>
                <a:gridCol w="1891569"/>
                <a:gridCol w="4821419"/>
              </a:tblGrid>
              <a:tr h="547792">
                <a:tc>
                  <a:txBody>
                    <a:bodyPr/>
                    <a:lstStyle/>
                    <a:p>
                      <a:pPr algn="ctr">
                        <a:buNone/>
                      </a:pPr>
                      <a:r>
                        <a:rPr sz="2400" b="1">
                          <a:solidFill>
                            <a:schemeClr val="bg1"/>
                          </a:solidFill>
                        </a:rPr>
                        <a:t>팀 명</a:t>
                      </a:r>
                    </a:p>
                  </a:txBody>
                  <a:tcPr marL="91440" marR="91440" marT="45720" marB="45720" anchor="ctr">
                    <a:lnR w="12700" cmpd="sng">
                      <a:solidFill>
                        <a:schemeClr val="bg1">
                          <a:lumMod val="85000"/>
                        </a:schemeClr>
                      </a:solidFill>
                      <a:prstDash val="solid"/>
                    </a:lnR>
                    <a:lnB w="12700" cmpd="sng">
                      <a:solidFill>
                        <a:schemeClr val="bg1">
                          <a:lumMod val="85000"/>
                        </a:schemeClr>
                      </a:solidFill>
                      <a:prstDash val="solid"/>
                    </a:lnB>
                    <a:solidFill>
                      <a:srgbClr val="372472"/>
                    </a:solidFill>
                  </a:tcPr>
                </a:tc>
                <a:tc>
                  <a:txBody>
                    <a:bodyPr/>
                    <a:lstStyle/>
                    <a:p>
                      <a:pPr>
                        <a:buNone/>
                      </a:pPr>
                      <a:r>
                        <a:rPr>
                          <a:solidFill>
                            <a:srgbClr val="111111"/>
                          </a:solidFill>
                          <a:latin typeface="맑은 고딕"/>
                          <a:ea typeface="맑은 고딕"/>
                          <a:cs typeface="맑은 고딕"/>
                        </a:rPr>
                        <a:t>와플(Wapple)</a:t>
                      </a:r>
                      <a:endParaRPr sz="2400" b="0">
                        <a:solidFill>
                          <a:schemeClr val="tx1"/>
                        </a:solidFill>
                      </a:endParaRPr>
                    </a:p>
                  </a:txBody>
                  <a:tcPr marL="91440" marR="91440" marT="45720" marB="45720" anchor="ctr">
                    <a:lnL w="12700" cmpd="sng">
                      <a:solidFill>
                        <a:schemeClr val="bg1">
                          <a:lumMod val="85000"/>
                        </a:schemeClr>
                      </a:solidFill>
                      <a:prstDash val="solid"/>
                    </a:lnL>
                    <a:lnB w="12700" cmpd="sng">
                      <a:solidFill>
                        <a:schemeClr val="bg1">
                          <a:lumMod val="85000"/>
                        </a:schemeClr>
                      </a:solidFill>
                      <a:prstDash val="solid"/>
                    </a:lnB>
                    <a:solidFill>
                      <a:srgbClr val="BBBCDE"/>
                    </a:solidFill>
                  </a:tcPr>
                </a:tc>
              </a:tr>
              <a:tr h="564418">
                <a:tc>
                  <a:txBody>
                    <a:bodyPr/>
                    <a:lstStyle/>
                    <a:p>
                      <a:pPr algn="ctr">
                        <a:buNone/>
                      </a:pPr>
                      <a:r>
                        <a:rPr sz="2400" b="1">
                          <a:solidFill>
                            <a:schemeClr val="bg1"/>
                          </a:solidFill>
                        </a:rPr>
                        <a:t>서비스</a:t>
                      </a:r>
                      <a:r>
                        <a:rPr sz="2400" b="1">
                          <a:solidFill>
                            <a:schemeClr val="bg1"/>
                          </a:solidFill>
                        </a:rPr>
                        <a:t> </a:t>
                      </a:r>
                      <a:r>
                        <a:rPr sz="2400" b="1">
                          <a:solidFill>
                            <a:schemeClr val="bg1"/>
                          </a:solidFill>
                        </a:rPr>
                        <a:t>명</a:t>
                      </a:r>
                    </a:p>
                  </a:txBody>
                  <a:tcPr marL="91440" marR="91440" marT="45720" marB="45720" anchor="ctr">
                    <a:lnR w="12700" cmpd="sng">
                      <a:solidFill>
                        <a:schemeClr val="bg1">
                          <a:lumMod val="85000"/>
                        </a:schemeClr>
                      </a:solidFill>
                      <a:prstDash val="solid"/>
                    </a:lnR>
                    <a:lnT w="12700" cmpd="sng">
                      <a:solidFill>
                        <a:schemeClr val="bg1">
                          <a:lumMod val="85000"/>
                        </a:schemeClr>
                      </a:solidFill>
                      <a:prstDash val="solid"/>
                    </a:lnT>
                    <a:solidFill>
                      <a:srgbClr val="372472"/>
                    </a:solidFill>
                  </a:tcPr>
                </a:tc>
                <a:tc>
                  <a:txBody>
                    <a:bodyPr/>
                    <a:lstStyle/>
                    <a:p>
                      <a:pPr>
                        <a:buNone/>
                      </a:pPr>
                      <a:r>
                        <a:rPr>
                          <a:solidFill>
                            <a:srgbClr val="111111"/>
                          </a:solidFill>
                          <a:latin typeface="맑은 고딕"/>
                          <a:ea typeface="맑은 고딕"/>
                          <a:cs typeface="맑은 고딕"/>
                        </a:rPr>
                        <a:t>투어플래닛 (TourPlanit)</a:t>
                      </a:r>
                      <a:endParaRPr sz="2400" b="0">
                        <a:solidFill>
                          <a:schemeClr val="tx1"/>
                        </a:solidFill>
                      </a:endParaRPr>
                    </a:p>
                  </a:txBody>
                  <a:tcPr marL="91440" marR="91440" marT="45720" marB="45720" anchor="ctr">
                    <a:lnL w="12700" cmpd="sng">
                      <a:solidFill>
                        <a:schemeClr val="bg1">
                          <a:lumMod val="85000"/>
                        </a:schemeClr>
                      </a:solidFill>
                      <a:prstDash val="solid"/>
                    </a:lnL>
                    <a:lnT w="12700" cmpd="sng">
                      <a:solidFill>
                        <a:schemeClr val="bg1">
                          <a:lumMod val="85000"/>
                        </a:schemeClr>
                      </a:solidFill>
                      <a:prstDash val="solid"/>
                    </a:lnT>
                    <a:solidFill>
                      <a:srgbClr val="BBBCDE"/>
                    </a:solidFill>
                  </a:tcPr>
                </a:tc>
              </a:tr>
            </a:tbl>
          </a:graphicData>
        </a:graphic>
      </p:graphicFrame>
    </p:spTree>
    <p:extLst>
      <p:ext uri="{BB962C8B-B14F-4D97-AF65-F5344CB8AC3E}">
        <p14:creationId xmlns:p14="http://schemas.microsoft.com/office/powerpoint/2010/main" val="135344982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graphicFrame>
        <p:nvGraphicFramePr>
          <p:cNvPr id="2" name="표 2"/>
          <p:cNvGraphicFramePr/>
          <p:nvPr/>
        </p:nvGraphicFramePr>
        <p:xfrm>
          <a:off xmlns:a="http://schemas.openxmlformats.org/drawingml/2006/main" x="271088" y="1065402"/>
          <a:ext xmlns:a="http://schemas.openxmlformats.org/drawingml/2006/main" cx="11649825" cy="5654871"/>
        </p:xfrm>
        <a:graphic xmlns:a="http://schemas.openxmlformats.org/drawingml/2006/main">
          <a:graphicData uri="http://schemas.openxmlformats.org/drawingml/2006/table">
            <a:tbl>
              <a:tblPr firstRow="1" bandRow="1">
                <a:tableStyleId>{5C22544A-7EE6-4342-B048-85BDC9FD1C3A}</a:tableStyleId>
              </a:tblPr>
              <a:tblGrid>
                <a:gridCol w="1955222"/>
                <a:gridCol w="9694603"/>
              </a:tblGrid>
              <a:tr h="893693">
                <a:tc>
                  <a:txBody>
                    <a:bodyPr/>
                    <a:lstStyle/>
                    <a:p>
                      <a:pPr algn="ctr">
                        <a:buNone/>
                      </a:pPr>
                      <a:r>
                        <a:rPr b="1">
                          <a:solidFill>
                            <a:schemeClr val="bg1"/>
                          </a:solidFill>
                        </a:rPr>
                        <a:t>서비스명</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lvl="0" indent="0" algn="just">
                        <a:spcBef>
                          <a:spcPts val="0"/>
                        </a:spcBef>
                        <a:spcAft>
                          <a:spcPts val="0"/>
                        </a:spcAft>
                        <a:buNone/>
                      </a:pPr>
                      <a:r>
                        <a:rPr sz="1800" b="0">
                          <a:solidFill>
                            <a:srgbClr val="111111"/>
                          </a:solidFill>
                          <a:latin typeface="맑은 고딕"/>
                          <a:ea typeface="맑은 고딕"/>
                          <a:cs typeface="맑은 고딕"/>
                        </a:rPr>
                        <a:t>투어플래닛 (TourPlanit) - 관광데이터 기반 여행상품 기획 자동화</a:t>
                      </a:r>
                      <a:endParaRPr sz="1800" b="0" baseline="0">
                        <a:solidFill>
                          <a:schemeClr val="tx1"/>
                        </a:solidFill>
                        <a:latin typeface="+mn-lt"/>
                        <a:ea typeface="+mn-lt"/>
                        <a:cs typeface="+mn-lt"/>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625585">
                <a:tc>
                  <a:txBody>
                    <a:bodyPr/>
                    <a:lstStyle/>
                    <a:p>
                      <a:pPr algn="ctr">
                        <a:buNone/>
                      </a:pPr>
                      <a:r>
                        <a:rPr b="1">
                          <a:solidFill>
                            <a:schemeClr val="bg1"/>
                          </a:solidFill>
                        </a:rPr>
                        <a:t>서비스 유형</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lvl="0" indent="0" algn="just">
                        <a:spcBef>
                          <a:spcPts val="0"/>
                        </a:spcBef>
                        <a:spcAft>
                          <a:spcPts val="0"/>
                        </a:spcAft>
                        <a:buNone/>
                      </a:pPr>
                      <a:r>
                        <a:rPr sz="1800" b="0">
                          <a:solidFill>
                            <a:srgbClr val="111111"/>
                          </a:solidFill>
                          <a:latin typeface="맑은 고딕"/>
                          <a:ea typeface="맑은 고딕"/>
                          <a:cs typeface="맑은 고딕"/>
                        </a:rPr>
                        <a:t>웹 - 로그인 없이 사용하는 반응형 서비스</a:t>
                      </a:r>
                      <a:endParaRPr sz="1800" b="0">
                        <a:solidFill>
                          <a:srgbClr val="FF0000"/>
                        </a:solidFill>
                        <a:latin typeface="+mn-lt"/>
                        <a:ea typeface="+mn-lt"/>
                        <a:cs typeface="+mn-lt"/>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893693">
                <a:tc>
                  <a:txBody>
                    <a:bodyPr/>
                    <a:lstStyle/>
                    <a:p>
                      <a:pPr algn="ctr">
                        <a:buNone/>
                      </a:pPr>
                      <a:r>
                        <a:rPr b="1">
                          <a:solidFill>
                            <a:schemeClr val="bg1"/>
                          </a:solidFill>
                        </a:rPr>
                        <a:t>서비스 </a:t>
                      </a:r>
                      <a:r>
                        <a:rPr b="1">
                          <a:solidFill>
                            <a:schemeClr val="bg1"/>
                          </a:solidFill>
                        </a:rPr>
                        <a:t>타깃</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marR="0" lvl="0" indent="0" algn="just" defTabSz="914400">
                        <a:lnSpc>
                          <a:spcPct val="100000"/>
                        </a:lnSpc>
                        <a:spcBef>
                          <a:spcPts val="0"/>
                        </a:spcBef>
                        <a:spcAft>
                          <a:spcPts val="0"/>
                        </a:spcAft>
                        <a:buClrTx/>
                        <a:buSzTx/>
                        <a:buFontTx/>
                        <a:buNone/>
                      </a:pPr>
                      <a:r>
                        <a:rPr sz="1800">
                          <a:solidFill>
                            <a:srgbClr val="111111"/>
                          </a:solidFill>
                          <a:latin typeface="맑은 고딕"/>
                          <a:ea typeface="맑은 고딕"/>
                          <a:cs typeface="맑은 고딕"/>
                        </a:rPr>
                        <a:t>신규 테마 관광 상품을 신속하게 개발 및 홍보해야 하는 여행사 및 지자체 여행 실무자</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1161801">
                <a:tc>
                  <a:txBody>
                    <a:bodyPr/>
                    <a:lstStyle/>
                    <a:p>
                      <a:pPr algn="ctr">
                        <a:buNone/>
                      </a:pPr>
                      <a:r>
                        <a:rPr b="1">
                          <a:solidFill>
                            <a:schemeClr val="bg1"/>
                          </a:solidFill>
                        </a:rPr>
                        <a:t>서비스 개요</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marR="0" lvl="0" indent="0" algn="just" defTabSz="914400">
                        <a:lnSpc>
                          <a:spcPct val="100000"/>
                        </a:lnSpc>
                        <a:spcBef>
                          <a:spcPts val="0"/>
                        </a:spcBef>
                        <a:spcAft>
                          <a:spcPts val="0"/>
                        </a:spcAft>
                        <a:buClrTx/>
                        <a:buSzTx/>
                        <a:buFontTx/>
                        <a:buNone/>
                      </a:pPr>
                      <a:r>
                        <a:rPr sz="1800">
                          <a:solidFill>
                            <a:srgbClr val="111111"/>
                          </a:solidFill>
                          <a:latin typeface="맑은 고딕"/>
                          <a:ea typeface="맑은 고딕"/>
                          <a:cs typeface="맑은 고딕"/>
                        </a:rPr>
                        <a:t>지역·기간·테마·타깃을 입력하면 한국관광공사 관광지 데이터와 AI를 연결해 일정·견적·다채널 홍보 초안을 한 흐름에서 만드는 검토형 워크스페이스</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1161801">
                <a:tc>
                  <a:txBody>
                    <a:bodyPr/>
                    <a:lstStyle/>
                    <a:p>
                      <a:pPr algn="ctr">
                        <a:buNone/>
                      </a:pPr>
                      <a:r>
                        <a:rPr b="1">
                          <a:solidFill>
                            <a:schemeClr val="bg1"/>
                          </a:solidFill>
                        </a:rPr>
                        <a:t>선택 </a:t>
                      </a:r>
                      <a:r>
                        <a:rPr b="1">
                          <a:solidFill>
                            <a:schemeClr val="bg1"/>
                          </a:solidFill>
                        </a:rPr>
                        <a:t>지정과제</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lvl="0" indent="0" algn="just">
                        <a:spcBef>
                          <a:spcPts val="0"/>
                        </a:spcBef>
                        <a:spcAft>
                          <a:spcPts val="0"/>
                        </a:spcAft>
                        <a:buNone/>
                      </a:pPr>
                      <a:r>
                        <a:rPr sz="1800" b="0">
                          <a:solidFill>
                            <a:srgbClr val="111111"/>
                          </a:solidFill>
                          <a:latin typeface="맑은 고딕"/>
                          <a:ea typeface="맑은 고딕"/>
                          <a:cs typeface="맑은 고딕"/>
                        </a:rPr>
                        <a:t>지정과제 7번 - 전통적 여행 상품 개발 방식의 프로세스 파편화 및 공급 지연에 따른 급변하는 관광 트렌드와 수요에 대한 적기 대응 실패</a:t>
                      </a:r>
                      <a:endParaRPr sz="1800" b="0" baseline="0">
                        <a:solidFill>
                          <a:srgbClr val="FF0000"/>
                        </a:solidFill>
                        <a:latin typeface="+mn-lt"/>
                        <a:ea typeface="+mn-lt"/>
                        <a:cs typeface="+mn-lt"/>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808551">
                <a:tc>
                  <a:txBody>
                    <a:bodyPr/>
                    <a:lstStyle/>
                    <a:p>
                      <a:pPr marL="0" marR="0" lvl="0" indent="0" algn="ctr" defTabSz="914400">
                        <a:lnSpc>
                          <a:spcPct val="100000"/>
                        </a:lnSpc>
                        <a:spcBef>
                          <a:spcPts val="0"/>
                        </a:spcBef>
                        <a:spcAft>
                          <a:spcPts val="0"/>
                        </a:spcAft>
                        <a:buClrTx/>
                        <a:buSzTx/>
                        <a:buFontTx/>
                        <a:buNone/>
                      </a:pPr>
                      <a:r>
                        <a:rPr sz="1800" b="1">
                          <a:solidFill>
                            <a:schemeClr val="bg1"/>
                          </a:solidFill>
                        </a:rPr>
                        <a:t>지정과제</a:t>
                      </a:r>
                      <a:endParaRPr sz="1800" b="1" baseline="0">
                        <a:solidFill>
                          <a:schemeClr val="bg1"/>
                        </a:solidFill>
                      </a:endParaRPr>
                    </a:p>
                    <a:p>
                      <a:pPr marL="0" marR="0" lvl="0" indent="0" algn="ctr" defTabSz="914400">
                        <a:lnSpc>
                          <a:spcPct val="100000"/>
                        </a:lnSpc>
                        <a:spcBef>
                          <a:spcPts val="0"/>
                        </a:spcBef>
                        <a:spcAft>
                          <a:spcPts val="0"/>
                        </a:spcAft>
                        <a:buClrTx/>
                        <a:buSzTx/>
                        <a:buFontTx/>
                        <a:buNone/>
                      </a:pPr>
                      <a:r>
                        <a:rPr sz="1800" b="1">
                          <a:solidFill>
                            <a:schemeClr val="bg1"/>
                          </a:solidFill>
                        </a:rPr>
                        <a:t>선택</a:t>
                      </a:r>
                      <a:r>
                        <a:rPr sz="1800" b="1">
                          <a:solidFill>
                            <a:schemeClr val="bg1"/>
                          </a:solidFill>
                        </a:rPr>
                        <a:t> </a:t>
                      </a:r>
                      <a:r>
                        <a:rPr sz="1800" b="1">
                          <a:solidFill>
                            <a:schemeClr val="bg1"/>
                          </a:solidFill>
                        </a:rPr>
                        <a:t>이유</a:t>
                      </a:r>
                      <a:endParaRPr sz="1800"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marR="0" lvl="0" indent="0" algn="just"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관광지 탐색, 일정 구성, 원가 검토, 홍보물 작성이 서로 다른 도구에 흩어져 반복 입력과 공급 지연이 발생한다. 공공데이터와 AI를 실제 실무 산출물로 연결해 대응 속도를 높일 필요가 있다.</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spTree>
    <p:extLst>
      <p:ext uri="{BB962C8B-B14F-4D97-AF65-F5344CB8AC3E}">
        <p14:creationId xmlns:p14="http://schemas.microsoft.com/office/powerpoint/2010/main" val="152600099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graphicFrame>
        <p:nvGraphicFramePr>
          <p:cNvPr id="2" name="표 7"/>
          <p:cNvGraphicFramePr/>
          <p:nvPr/>
        </p:nvGraphicFramePr>
        <p:xfrm>
          <a:off xmlns:a="http://schemas.openxmlformats.org/drawingml/2006/main" x="271088" y="1065401"/>
          <a:ext xmlns:a="http://schemas.openxmlformats.org/drawingml/2006/main" cx="11649825" cy="5570292"/>
        </p:xfrm>
        <a:graphic xmlns:a="http://schemas.openxmlformats.org/drawingml/2006/main">
          <a:graphicData uri="http://schemas.openxmlformats.org/drawingml/2006/table">
            <a:tbl>
              <a:tblPr firstRow="1" bandRow="1">
                <a:tableStyleId>{5C22544A-7EE6-4342-B048-85BDC9FD1C3A}</a:tableStyleId>
              </a:tblPr>
              <a:tblGrid>
                <a:gridCol w="1955222"/>
                <a:gridCol w="9694603"/>
              </a:tblGrid>
              <a:tr h="2785146">
                <a:tc>
                  <a:txBody>
                    <a:bodyPr/>
                    <a:lstStyle/>
                    <a:p>
                      <a:pPr marL="0" marR="0" lvl="0" indent="0" algn="ctr" defTabSz="914400">
                        <a:lnSpc>
                          <a:spcPct val="100000"/>
                        </a:lnSpc>
                        <a:spcBef>
                          <a:spcPts val="0"/>
                        </a:spcBef>
                        <a:spcAft>
                          <a:spcPts val="0"/>
                        </a:spcAft>
                        <a:buClrTx/>
                        <a:buSzTx/>
                        <a:buFontTx/>
                        <a:buNone/>
                      </a:pPr>
                      <a:r>
                        <a:rPr b="1">
                          <a:solidFill>
                            <a:schemeClr val="bg1"/>
                          </a:solidFill>
                        </a:rPr>
                        <a:t>지정과제</a:t>
                      </a:r>
                      <a:r>
                        <a:rPr b="1">
                          <a:solidFill>
                            <a:schemeClr val="bg1"/>
                          </a:solidFill>
                        </a:rPr>
                        <a:t> 기반</a:t>
                      </a:r>
                      <a:endParaRPr b="1" baseline="0">
                        <a:solidFill>
                          <a:schemeClr val="bg1"/>
                        </a:solidFill>
                      </a:endParaRPr>
                    </a:p>
                    <a:p>
                      <a:pPr marL="0" marR="0" lvl="0" indent="0" algn="ctr" defTabSz="914400">
                        <a:lnSpc>
                          <a:spcPct val="100000"/>
                        </a:lnSpc>
                        <a:spcBef>
                          <a:spcPts val="0"/>
                        </a:spcBef>
                        <a:spcAft>
                          <a:spcPts val="0"/>
                        </a:spcAft>
                        <a:buClrTx/>
                        <a:buSzTx/>
                        <a:buFontTx/>
                        <a:buNone/>
                      </a:pPr>
                      <a:r>
                        <a:rPr b="1">
                          <a:solidFill>
                            <a:schemeClr val="bg1"/>
                          </a:solidFill>
                        </a:rPr>
                        <a:t>서비스 기획 방향</a:t>
                      </a:r>
                      <a:endParaRPr b="1" baseline="0">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marR="0" lvl="0" indent="0" algn="just"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공식 서비스 주제인 ‘상품 기획서 작성부터 다채널 마케팅 콘텐츠 제작까지의 과정을 자동화하는 실무 지원 서비스’를 구현한다. 지역·기간·테마·타깃·예산 입력 → KTO 관광지 조회 → AI 기획안 → 일정·견적 → 카드뉴스·블로그·카카오 문구로 연결한다. 실제 API 성공 데이터에만 출처·API명·필드·관광지 목록을 표시하며 AI 결과는 담당자가 검토·수정한다.</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2785146">
                <a:tc>
                  <a:txBody>
                    <a:bodyPr/>
                    <a:lstStyle/>
                    <a:p>
                      <a:pPr algn="ctr">
                        <a:buNone/>
                      </a:pPr>
                      <a:r>
                        <a:rPr b="1">
                          <a:solidFill>
                            <a:schemeClr val="bg1"/>
                          </a:solidFill>
                        </a:rPr>
                        <a:t>해시태그</a:t>
                      </a:r>
                      <a:r>
                        <a:rPr b="1">
                          <a:solidFill>
                            <a:schemeClr val="bg1"/>
                          </a:solidFill>
                        </a:rPr>
                        <a:t> </a:t>
                      </a:r>
                      <a:r>
                        <a:rPr b="1">
                          <a:solidFill>
                            <a:schemeClr val="bg1"/>
                          </a:solidFill>
                        </a:rPr>
                        <a:t>목록</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marR="0" lvl="0" indent="0" algn="just"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#여행 상품 기획  #데이터 기반  #관광 수요  #관광지 분석</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spTree>
    <p:extLst>
      <p:ext uri="{BB962C8B-B14F-4D97-AF65-F5344CB8AC3E}">
        <p14:creationId xmlns:p14="http://schemas.microsoft.com/office/powerpoint/2010/main" val="7328485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graphicFrame>
        <p:nvGraphicFramePr>
          <p:cNvPr id="9" name="표 8"/>
          <p:cNvGraphicFramePr/>
          <p:nvPr/>
        </p:nvGraphicFramePr>
        <p:xfrm>
          <a:off xmlns:a="http://schemas.openxmlformats.org/drawingml/2006/main" x="180961" y="1551963"/>
          <a:ext xmlns:a="http://schemas.openxmlformats.org/drawingml/2006/main" cx="11830079" cy="4993748"/>
        </p:xfrm>
        <a:graphic xmlns:a="http://schemas.openxmlformats.org/drawingml/2006/main">
          <a:graphicData uri="http://schemas.openxmlformats.org/drawingml/2006/table">
            <a:tbl>
              <a:tblPr firstRow="1" bandRow="1">
                <a:tableStyleId>{5C22544A-7EE6-4342-B048-85BDC9FD1C3A}</a:tableStyleId>
              </a:tblPr>
              <a:tblGrid>
                <a:gridCol w="2570619"/>
                <a:gridCol w="2620520"/>
                <a:gridCol w="6638940"/>
              </a:tblGrid>
              <a:tr h="450256">
                <a:tc>
                  <a:txBody>
                    <a:bodyPr/>
                    <a:lstStyle/>
                    <a:p>
                      <a:pPr marL="0" marR="0" lvl="0" indent="0" algn="ctr" defTabSz="914400">
                        <a:lnSpc>
                          <a:spcPct val="100000"/>
                        </a:lnSpc>
                        <a:spcBef>
                          <a:spcPts val="0"/>
                        </a:spcBef>
                        <a:spcAft>
                          <a:spcPts val="0"/>
                        </a:spcAft>
                        <a:buClrTx/>
                        <a:buSzTx/>
                        <a:buFontTx/>
                        <a:buNone/>
                      </a:pPr>
                      <a:r>
                        <a:rPr sz="1600" b="1">
                          <a:solidFill>
                            <a:schemeClr val="bg1"/>
                          </a:solidFill>
                        </a:rPr>
                        <a:t>해시태그</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marL="0" marR="0" lvl="0" indent="0" algn="ctr" defTabSz="914400">
                        <a:lnSpc>
                          <a:spcPct val="100000"/>
                        </a:lnSpc>
                        <a:spcBef>
                          <a:spcPts val="0"/>
                        </a:spcBef>
                        <a:spcAft>
                          <a:spcPts val="0"/>
                        </a:spcAft>
                        <a:buClrTx/>
                        <a:buSzTx/>
                        <a:buFontTx/>
                        <a:buNone/>
                      </a:pPr>
                      <a:r>
                        <a:rPr sz="1600" b="1">
                          <a:solidFill>
                            <a:schemeClr val="bg1"/>
                          </a:solidFill>
                        </a:rPr>
                        <a:t>연계 기능</a:t>
                      </a:r>
                      <a:endParaRPr sz="1600"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marL="0" marR="0" lvl="0" indent="0" algn="ctr" defTabSz="914400">
                        <a:lnSpc>
                          <a:spcPct val="100000"/>
                        </a:lnSpc>
                        <a:spcBef>
                          <a:spcPts val="0"/>
                        </a:spcBef>
                        <a:spcAft>
                          <a:spcPts val="0"/>
                        </a:spcAft>
                        <a:buClrTx/>
                        <a:buSzTx/>
                        <a:buFontTx/>
                        <a:buNone/>
                      </a:pPr>
                      <a:r>
                        <a:rPr sz="1600" b="1">
                          <a:solidFill>
                            <a:schemeClr val="bg1"/>
                          </a:solidFill>
                        </a:rPr>
                        <a:t>연계 상세 내용</a:t>
                      </a:r>
                      <a:endParaRPr sz="1600"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r>
              <a:tr h="4543492">
                <a:tc>
                  <a:txBody>
                    <a:bodyPr/>
                    <a:lstStyle/>
                    <a:p>
                      <a:pPr marL="0" marR="0" lvl="0" indent="0" algn="ctr"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#여행 상품 기획</a:t>
                      </a:r>
                      <a:endParaRPr sz="1800" b="0" baseline="0">
                        <a:solidFill>
                          <a:srgbClr val="FF0000"/>
                        </a:solidFill>
                        <a:latin typeface="+mn-lt"/>
                        <a:ea typeface="+mn-lt"/>
                        <a:cs typeface="+mn-lt"/>
                      </a:endParaRPr>
                    </a:p>
                    <a:p>
                      <a:pPr marL="0" marR="0" lvl="0" indent="0" algn="ctr"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#데이터 기반</a:t>
                      </a:r>
                      <a:endParaRPr sz="1800" b="0" baseline="0">
                        <a:solidFill>
                          <a:srgbClr val="FF0000"/>
                        </a:solidFill>
                        <a:latin typeface="+mn-lt"/>
                        <a:ea typeface="+mn-lt"/>
                        <a:cs typeface="+mn-lt"/>
                      </a:endParaRPr>
                    </a:p>
                    <a:p>
                      <a:pPr marL="0" marR="0" lvl="0" indent="0" algn="ctr" defTabSz="914400">
                        <a:lnSpc>
                          <a:spcPct val="100000"/>
                        </a:lnSpc>
                        <a:spcBef>
                          <a:spcPts val="0"/>
                        </a:spcBef>
                        <a:spcAft>
                          <a:spcPts val="0"/>
                        </a:spcAft>
                        <a:buClrTx/>
                        <a:buSzTx/>
                        <a:buFontTx/>
                        <a:buNone/>
                      </a:pPr>
                      <a:r>
                        <a:rPr b="0" i="1">
                          <a:solidFill>
                            <a:srgbClr val="111111"/>
                          </a:solidFill>
                          <a:latin typeface="맑은 고딕"/>
                          <a:ea typeface="맑은 고딕"/>
                          <a:cs typeface="맑은 고딕"/>
                        </a:rPr>
                        <a:t>#관광 수요</a:t>
                      </a:r>
                      <a:endParaRPr b="0" i="1">
                        <a:solidFill>
                          <a:schemeClr val="tx1"/>
                        </a:solidFill>
                      </a:endParaRPr>
                    </a:p>
                    <a:p>
                      <a:pPr marL="0" marR="0" lvl="0" indent="0" algn="ctr" defTabSz="914400">
                        <a:lnSpc>
                          <a:spcPct val="100000"/>
                        </a:lnSpc>
                        <a:spcBef>
                          <a:spcPts val="0"/>
                        </a:spcBef>
                        <a:spcAft>
                          <a:spcPts val="0"/>
                        </a:spcAft>
                        <a:buClrTx/>
                        <a:buSzTx/>
                        <a:buFontTx/>
                        <a:buNone/>
                      </a:pPr>
                      <a:r>
                        <a:rPr b="0" i="1">
                          <a:solidFill>
                            <a:srgbClr val="111111"/>
                          </a:solidFill>
                          <a:latin typeface="맑은 고딕"/>
                          <a:ea typeface="맑은 고딕"/>
                          <a:cs typeface="맑은 고딕"/>
                        </a:rPr>
                        <a:t>#관광지 분석</a:t>
                      </a:r>
                      <a:endParaRPr b="0" i="1">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c>
                  <a:txBody>
                    <a:bodyPr/>
                    <a:lstStyle/>
                    <a:p>
                      <a:pPr marL="0" marR="0" lvl="0" indent="0" algn="ctr"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조건 입력·기획 요약</a:t>
                      </a:r>
                      <a:endParaRPr sz="1800" b="0" baseline="0">
                        <a:solidFill>
                          <a:srgbClr val="FF0000"/>
                        </a:solidFill>
                        <a:latin typeface="+mn-lt"/>
                        <a:ea typeface="+mn-lt"/>
                        <a:cs typeface="+mn-lt"/>
                      </a:endParaRPr>
                    </a:p>
                    <a:p>
                      <a:pPr marL="0" marR="0" lvl="0" indent="0" algn="ctr"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관광 데이터 근거 패널</a:t>
                      </a:r>
                      <a:endParaRPr sz="1800" b="0" baseline="0">
                        <a:solidFill>
                          <a:srgbClr val="FF0000"/>
                        </a:solidFill>
                        <a:latin typeface="+mn-lt"/>
                        <a:ea typeface="+mn-lt"/>
                        <a:cs typeface="+mn-lt"/>
                      </a:endParaRPr>
                    </a:p>
                    <a:p>
                      <a:pPr marL="0" marR="0" lvl="0" indent="0" algn="ctr" defTabSz="914400">
                        <a:lnSpc>
                          <a:spcPct val="100000"/>
                        </a:lnSpc>
                        <a:spcBef>
                          <a:spcPts val="0"/>
                        </a:spcBef>
                        <a:spcAft>
                          <a:spcPts val="0"/>
                        </a:spcAft>
                        <a:buClrTx/>
                        <a:buSzTx/>
                        <a:buFontTx/>
                        <a:buNone/>
                      </a:pPr>
                      <a:r>
                        <a:rPr>
                          <a:solidFill>
                            <a:srgbClr val="111111"/>
                          </a:solidFill>
                          <a:latin typeface="맑은 고딕"/>
                          <a:ea typeface="맑은 고딕"/>
                          <a:cs typeface="맑은 고딕"/>
                        </a:rPr>
                        <a:t>테마·타깃·기간 설정</a:t>
                      </a:r>
                      <a:endParaRPr sz="1800" b="0">
                        <a:solidFill>
                          <a:schemeClr val="tx1"/>
                        </a:solidFill>
                        <a:latin typeface="+mn-lt"/>
                        <a:ea typeface="+mn-lt"/>
                        <a:cs typeface="+mn-lt"/>
                      </a:endParaRPr>
                    </a:p>
                    <a:p>
                      <a:pPr marL="0" marR="0" lvl="0" indent="0" algn="ctr"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지역 관광지 후보 조회</a:t>
                      </a:r>
                      <a:endParaRPr sz="1800" b="0">
                        <a:solidFill>
                          <a:schemeClr val="tx1"/>
                        </a:solidFill>
                        <a:latin typeface="+mn-lt"/>
                        <a:ea typeface="+mn-lt"/>
                        <a:cs typeface="+mn-lt"/>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c>
                  <a:txBody>
                    <a:bodyPr/>
                    <a:lstStyle/>
                    <a:p>
                      <a:pPr marL="0" marR="0" lvl="0" indent="0" algn="l"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지역·기간·테마·타깃·예산·운영조건을 구조화해 상품 초안을 생성한다.</a:t>
                      </a:r>
                      <a:endParaRPr sz="1800" b="0" baseline="0">
                        <a:solidFill>
                          <a:srgbClr val="FF0000"/>
                        </a:solidFill>
                        <a:latin typeface="+mn-lt"/>
                        <a:ea typeface="+mn-lt"/>
                        <a:cs typeface="+mn-lt"/>
                      </a:endParaRPr>
                    </a:p>
                    <a:p>
                      <a:pPr marL="0" marR="0" lvl="0" indent="0" algn="l" defTabSz="914400">
                        <a:lnSpc>
                          <a:spcPct val="100000"/>
                        </a:lnSpc>
                        <a:spcBef>
                          <a:spcPts val="0"/>
                        </a:spcBef>
                        <a:spcAft>
                          <a:spcPts val="0"/>
                        </a:spcAft>
                        <a:buClrTx/>
                        <a:buSzTx/>
                        <a:buFontTx/>
                        <a:buNone/>
                      </a:pPr>
                      <a:r>
                        <a:rPr>
                          <a:solidFill>
                            <a:srgbClr val="111111"/>
                          </a:solidFill>
                          <a:latin typeface="맑은 고딕"/>
                          <a:ea typeface="맑은 고딕"/>
                          <a:cs typeface="맑은 고딕"/>
                        </a:rPr>
                        <a:t>성공한 OpenAPI 응답에만 API명, 지역 코드, 조회 시각, 사용 필드와 관광지 목록을 표시한다.</a:t>
                      </a:r>
                      <a:endParaRPr/>
                    </a:p>
                    <a:p>
                      <a:pPr marL="0" marR="0" lvl="0" indent="0" algn="l" defTabSz="914400">
                        <a:lnSpc>
                          <a:spcPct val="100000"/>
                        </a:lnSpc>
                        <a:spcBef>
                          <a:spcPts val="0"/>
                        </a:spcBef>
                        <a:spcAft>
                          <a:spcPts val="0"/>
                        </a:spcAft>
                        <a:buClrTx/>
                        <a:buSzTx/>
                        <a:buFontTx/>
                        <a:buNone/>
                      </a:pPr>
                      <a:r>
                        <a:rPr>
                          <a:solidFill>
                            <a:srgbClr val="111111"/>
                          </a:solidFill>
                          <a:latin typeface="맑은 고딕"/>
                          <a:ea typeface="맑은 고딕"/>
                          <a:cs typeface="맑은 고딕"/>
                        </a:rPr>
                        <a:t>고객군과 여행 조건을 AI 상품 구성의 입력으로 사용한다.</a:t>
                      </a:r>
                      <a:endParaRPr sz="1800" b="0" baseline="0">
                        <a:solidFill>
                          <a:srgbClr val="FF0000"/>
                        </a:solidFill>
                        <a:latin typeface="+mn-lt"/>
                        <a:ea typeface="+mn-lt"/>
                        <a:cs typeface="+mn-lt"/>
                      </a:endParaRPr>
                    </a:p>
                    <a:p>
                      <a:pPr marL="0" marR="0" lvl="0" indent="0" algn="l" defTabSz="914400">
                        <a:lnSpc>
                          <a:spcPct val="100000"/>
                        </a:lnSpc>
                        <a:spcBef>
                          <a:spcPts val="0"/>
                        </a:spcBef>
                        <a:spcAft>
                          <a:spcPts val="0"/>
                        </a:spcAft>
                        <a:buClrTx/>
                        <a:buSzTx/>
                        <a:buFontTx/>
                        <a:buNone/>
                      </a:pPr>
                      <a:r>
                        <a:rPr sz="1800" b="0" i="1">
                          <a:solidFill>
                            <a:srgbClr val="111111"/>
                          </a:solidFill>
                          <a:latin typeface="맑은 고딕"/>
                          <a:ea typeface="맑은 고딕"/>
                          <a:cs typeface="맑은 고딕"/>
                        </a:rPr>
                        <a:t>areaBasedList2의 관광지명·주소·이미지·콘텐츠 ID·타입을 기획 후보로 활용한다. 카드뉴스·블로그·카카오 문구는 공식 기능 예시의 ‘다채널 마케팅 홍보 카피 자동 생성’ 구현 결과로 별도 제공한다.</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sp>
        <p:nvSpPr>
          <p:cNvPr id="7" name="직사각형 6">
            <a:extLst xmlns:a="http://schemas.openxmlformats.org/drawingml/2006/main">
              <a:ext uri="{FF2B5EF4-FFF2-40B4-BE49-F238E27FC236}">
                <a16:creationId xmlns:a16="http://schemas.microsoft.com/office/drawing/2014/main" id="{28C82D31-9C05-4620-BC1A-1B26C6ACAD72}"/>
              </a:ext>
            </a:extLst>
          </p:cNvPr>
          <p:cNvSpPr>
            <a:spLocks xmlns:a="http://schemas.openxmlformats.org/drawingml/2006/main" noGrp="1"/>
          </p:cNvSpPr>
          <p:nvPr/>
        </p:nvSpPr>
        <p:spPr>
          <a:xfrm xmlns:a="http://schemas.openxmlformats.org/drawingml/2006/main">
            <a:off x="0" y="0"/>
            <a:ext cx="0" cy="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endParaRPr/>
          </a:p>
        </p:txBody>
      </p:sp>
      <p:sp>
        <p:nvSpPr>
          <p:cNvPr id="4" name="TextBox 3">
            <a:extLst xmlns:a="http://schemas.openxmlformats.org/drawingml/2006/main">
              <a:ext uri="{FF2B5EF4-FFF2-40B4-BE49-F238E27FC236}">
                <a16:creationId xmlns:a16="http://schemas.microsoft.com/office/drawing/2014/main" id="{6FFF9C50-2617-46D4-9903-71BBF4FCF1A7}"/>
              </a:ext>
            </a:extLst>
          </p:cNvPr>
          <p:cNvSpPr>
            <a:spLocks xmlns:a="http://schemas.openxmlformats.org/drawingml/2006/main" noGrp="1"/>
          </p:cNvSpPr>
          <p:nvPr/>
        </p:nvSpPr>
        <p:spPr>
          <a:xfrm xmlns:a="http://schemas.openxmlformats.org/drawingml/2006/main">
            <a:off x="174567" y="1101012"/>
            <a:ext cx="3382365" cy="307777"/>
          </a:xfrm>
          <a:prstGeom xmlns:a="http://schemas.openxmlformats.org/drawingml/2006/main" prst="rect">
            <a:avLst/>
          </a:prstGeom>
          <a:solidFill xmlns:a="http://schemas.openxmlformats.org/drawingml/2006/main">
            <a:srgbClr val="372472"/>
          </a:solidFill>
        </p:spPr>
        <p:txBody>
          <a:bodyPr xmlns:a="http://schemas.openxmlformats.org/drawingml/2006/main" wrap="square">
            <a:spAutoFit/>
          </a:bodyPr>
          <a:lstStyle xmlns:a="http://schemas.openxmlformats.org/drawingml/2006/main"/>
          <a:p xmlns:a="http://schemas.openxmlformats.org/drawingml/2006/main">
            <a:pPr algn="ctr">
              <a:buNone/>
            </a:pPr>
            <a:r>
              <a:rPr sz="1400" b="1">
                <a:solidFill>
                  <a:schemeClr val="bg1"/>
                </a:solidFill>
              </a:rPr>
              <a:t>해시태그 연계 핵심기능 및 상세내용</a:t>
            </a:r>
            <a:endParaRPr sz="1400" b="1">
              <a:solidFill>
                <a:schemeClr val="bg1"/>
              </a:solidFill>
            </a:endParaRPr>
          </a:p>
        </p:txBody>
      </p:sp>
    </p:spTree>
    <p:extLst>
      <p:ext uri="{BB962C8B-B14F-4D97-AF65-F5344CB8AC3E}">
        <p14:creationId xmlns:p14="http://schemas.microsoft.com/office/powerpoint/2010/main" val="40986881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graphicFrame>
        <p:nvGraphicFramePr>
          <p:cNvPr id="14" name="표 4"/>
          <p:cNvGraphicFramePr/>
          <p:nvPr/>
        </p:nvGraphicFramePr>
        <p:xfrm>
          <a:off xmlns:a="http://schemas.openxmlformats.org/drawingml/2006/main" x="302952" y="2702225"/>
          <a:ext xmlns:a="http://schemas.openxmlformats.org/drawingml/2006/main" cx="11426308" cy="3836943"/>
        </p:xfrm>
        <a:graphic xmlns:a="http://schemas.openxmlformats.org/drawingml/2006/main">
          <a:graphicData uri="http://schemas.openxmlformats.org/drawingml/2006/table">
            <a:tbl>
              <a:tblPr firstRow="1" bandRow="1">
                <a:tableStyleId>{5C22544A-7EE6-4342-B048-85BDC9FD1C3A}</a:tableStyleId>
              </a:tblPr>
              <a:tblGrid>
                <a:gridCol w="2856577"/>
                <a:gridCol w="2856577"/>
                <a:gridCol w="2856577"/>
                <a:gridCol w="2856577"/>
              </a:tblGrid>
              <a:tr h="321846">
                <a:tc gridSpan="4">
                  <a:txBody>
                    <a:bodyPr/>
                    <a:lstStyle/>
                    <a:p>
                      <a:pPr algn="ctr">
                        <a:buNone/>
                      </a:pPr>
                      <a:r>
                        <a:rPr>
                          <a:solidFill>
                            <a:schemeClr val="bg1"/>
                          </a:solidFill>
                        </a:rPr>
                        <a:t>기능</a:t>
                      </a:r>
                      <a:r>
                        <a:rPr>
                          <a:solidFill>
                            <a:schemeClr val="bg1"/>
                          </a:solidFill>
                        </a:rPr>
                        <a:t> </a:t>
                      </a:r>
                      <a:r>
                        <a:rPr>
                          <a:solidFill>
                            <a:schemeClr val="bg1"/>
                          </a:solidFill>
                        </a:rPr>
                        <a:t>흐름도</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hMerge="1">
                  <a:txBody>
                    <a:bodyPr/>
                    <a:lstStyle/>
                    <a:p>
                      <a:pPr algn="ctr">
                        <a:buNone/>
                      </a:pPr>
                      <a:endParaRPr>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FF6F00"/>
                    </a:solidFill>
                  </a:tcPr>
                </a:tc>
                <a:tc hMerge="1">
                  <a:txBody>
                    <a:bodyPr/>
                    <a:lstStyle/>
                    <a:p>
                      <a:pPr algn="ctr">
                        <a:buNone/>
                      </a:pPr>
                      <a:endParaRPr>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FF6F00"/>
                    </a:solidFill>
                  </a:tcPr>
                </a:tc>
                <a:tc hMerge="1">
                  <a:txBody>
                    <a:bodyPr/>
                    <a:lstStyle/>
                    <a:p>
                      <a:pPr algn="ctr">
                        <a:buNone/>
                      </a:pPr>
                      <a:endParaRPr>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FF6F00"/>
                    </a:solidFill>
                  </a:tcPr>
                </a:tc>
              </a:tr>
              <a:tr h="2282463">
                <a:tc>
                  <a:txBody>
                    <a:bodyPr/>
                    <a:lstStyle/>
                    <a:p>
                      <a:pPr marL="0" marR="0" lvl="0" indent="0" algn="ctr" defTabSz="914400">
                        <a:lnSpc>
                          <a:spcPct val="100000"/>
                        </a:lnSpc>
                        <a:spcBef>
                          <a:spcPts val="0"/>
                        </a:spcBef>
                        <a:spcAft>
                          <a:spcPts val="0"/>
                        </a:spcAft>
                        <a:buClrTx/>
                        <a:buSzTx/>
                        <a:buFontTx/>
                        <a:buNone/>
                      </a:pPr>
                      <a:r>
                        <a:rPr sz="1800" b="0">
                          <a:solidFill>
                            <a:srgbClr val="FF0000"/>
                          </a:solidFill>
                          <a:latin typeface="+mn-lt"/>
                          <a:ea typeface="+mn-lt"/>
                          <a:cs typeface="+mn-lt"/>
                        </a:rPr>
                        <a:t/>
                      </a:r>
                      <a:endParaRPr sz="1800" b="0">
                        <a:solidFill>
                          <a:srgbClr val="FF0000"/>
                        </a:solidFill>
                        <a:latin typeface="+mn-lt"/>
                        <a:ea typeface="+mn-lt"/>
                        <a:cs typeface="+mn-lt"/>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c>
                  <a:txBody>
                    <a:bodyPr/>
                    <a:lstStyle/>
                    <a:p>
                      <a:pPr marL="0" marR="0" lvl="0" indent="0" algn="ctr" defTabSz="914400">
                        <a:lnSpc>
                          <a:spcPct val="100000"/>
                        </a:lnSpc>
                        <a:spcBef>
                          <a:spcPts val="0"/>
                        </a:spcBef>
                        <a:spcAft>
                          <a:spcPts val="0"/>
                        </a:spcAft>
                        <a:buClrTx/>
                        <a:buSzTx/>
                        <a:buFontTx/>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c>
                  <a:txBody>
                    <a:bodyPr/>
                    <a:lstStyle/>
                    <a:p>
                      <a:pPr marL="0" marR="0" lvl="0" indent="0" algn="ctr" defTabSz="914400">
                        <a:lnSpc>
                          <a:spcPct val="100000"/>
                        </a:lnSpc>
                        <a:spcBef>
                          <a:spcPts val="0"/>
                        </a:spcBef>
                        <a:spcAft>
                          <a:spcPts val="0"/>
                        </a:spcAft>
                        <a:buClrTx/>
                        <a:buSzTx/>
                        <a:buFontTx/>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c>
                  <a:txBody>
                    <a:bodyPr/>
                    <a:lstStyle/>
                    <a:p>
                      <a:pPr marL="0" marR="0" lvl="0" indent="0" algn="ctr" defTabSz="914400">
                        <a:lnSpc>
                          <a:spcPct val="100000"/>
                        </a:lnSpc>
                        <a:spcBef>
                          <a:spcPts val="0"/>
                        </a:spcBef>
                        <a:spcAft>
                          <a:spcPts val="0"/>
                        </a:spcAft>
                        <a:buClrTx/>
                        <a:buSzTx/>
                        <a:buFontTx/>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1166258">
                <a:tc>
                  <a:txBody>
                    <a:bodyPr/>
                    <a:lstStyle/>
                    <a:p>
                      <a:pPr marL="0" marR="0" lvl="0" indent="0" algn="ctr" defTabSz="914400">
                        <a:lnSpc>
                          <a:spcPct val="100000"/>
                        </a:lnSpc>
                        <a:spcBef>
                          <a:spcPts val="0"/>
                        </a:spcBef>
                        <a:spcAft>
                          <a:spcPts val="0"/>
                        </a:spcAft>
                        <a:buClrTx/>
                        <a:buSzTx/>
                        <a:buFontTx/>
                        <a:buNone/>
                      </a:pPr>
                      <a:r>
                        <a:rPr sz="1800" b="0">
                          <a:solidFill>
                            <a:srgbClr val="111111"/>
                          </a:solidFill>
                          <a:latin typeface="맑은 고딕"/>
                          <a:ea typeface="맑은 고딕"/>
                          <a:cs typeface="맑은 고딕"/>
                        </a:rPr>
                        <a:t>① 조건 입력</a:t>
                      </a:r>
                      <a:endParaRPr b="0">
                        <a:solidFill>
                          <a:schemeClr val="tx1"/>
                        </a:solidFill>
                      </a:endParaRPr>
                    </a:p>
                    <a:p>
                      <a:pPr algn="ctr">
                        <a:buNone/>
                      </a:pPr>
                      <a:r>
                        <a:rPr b="0">
                          <a:solidFill>
                            <a:srgbClr val="111111"/>
                          </a:solidFill>
                          <a:latin typeface="맑은 고딕"/>
                          <a:ea typeface="맑은 고딕"/>
                          <a:cs typeface="맑은 고딕"/>
                        </a:rPr>
                        <a:t>지역·기간·테마·타깃·예산</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c>
                  <a:txBody>
                    <a:bodyPr/>
                    <a:lstStyle/>
                    <a:p>
                      <a:pPr algn="ctr">
                        <a:buNone/>
                      </a:pPr>
                      <a:r>
                        <a:rPr>
                          <a:solidFill>
                            <a:srgbClr val="111111"/>
                          </a:solidFill>
                          <a:latin typeface="맑은 고딕"/>
                          <a:ea typeface="맑은 고딕"/>
                          <a:cs typeface="맑은 고딕"/>
                        </a:rPr>
                        <a:t>② KTO 조회 + AI 생성</a:t>
                      </a:r>
                      <a:endParaRPr b="0">
                        <a:solidFill>
                          <a:schemeClr val="tx1"/>
                        </a:solidFill>
                      </a:endParaRPr>
                    </a:p>
                    <a:p>
                      <a:pPr algn="ctr">
                        <a:buNone/>
                      </a:pPr>
                      <a:r>
                        <a:rPr>
                          <a:solidFill>
                            <a:srgbClr val="111111"/>
                          </a:solidFill>
                          <a:latin typeface="맑은 고딕"/>
                          <a:ea typeface="맑은 고딕"/>
                          <a:cs typeface="맑은 고딕"/>
                        </a:rPr>
                        <a:t>성공 데이터만 근거 표시</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c>
                  <a:txBody>
                    <a:bodyPr/>
                    <a:lstStyle/>
                    <a:p>
                      <a:pPr algn="ctr">
                        <a:buNone/>
                      </a:pPr>
                      <a:r>
                        <a:rPr>
                          <a:solidFill>
                            <a:srgbClr val="111111"/>
                          </a:solidFill>
                          <a:latin typeface="맑은 고딕"/>
                          <a:ea typeface="맑은 고딕"/>
                          <a:cs typeface="맑은 고딕"/>
                        </a:rPr>
                        <a:t>③ 일정·견적 검토</a:t>
                      </a:r>
                      <a:endParaRPr b="0">
                        <a:solidFill>
                          <a:schemeClr val="tx1"/>
                        </a:solidFill>
                      </a:endParaRPr>
                    </a:p>
                    <a:p>
                      <a:pPr algn="ctr">
                        <a:buNone/>
                      </a:pPr>
                      <a:r>
                        <a:rPr>
                          <a:solidFill>
                            <a:srgbClr val="111111"/>
                          </a:solidFill>
                          <a:latin typeface="맑은 고딕"/>
                          <a:ea typeface="맑은 고딕"/>
                          <a:cs typeface="맑은 고딕"/>
                        </a:rPr>
                        <a:t>운영조건·원가 확인</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c>
                  <a:txBody>
                    <a:bodyPr/>
                    <a:lstStyle/>
                    <a:p>
                      <a:pPr algn="ctr">
                        <a:buNone/>
                      </a:pPr>
                      <a:r>
                        <a:rPr>
                          <a:solidFill>
                            <a:srgbClr val="111111"/>
                          </a:solidFill>
                          <a:latin typeface="맑은 고딕"/>
                          <a:ea typeface="맑은 고딕"/>
                          <a:cs typeface="맑은 고딕"/>
                        </a:rPr>
                        <a:t>④ 홍보물 전환</a:t>
                      </a:r>
                      <a:endParaRPr b="0">
                        <a:solidFill>
                          <a:schemeClr val="tx1"/>
                        </a:solidFill>
                      </a:endParaRPr>
                    </a:p>
                    <a:p>
                      <a:pPr algn="ctr">
                        <a:buNone/>
                      </a:pPr>
                      <a:r>
                        <a:rPr>
                          <a:solidFill>
                            <a:srgbClr val="111111"/>
                          </a:solidFill>
                          <a:latin typeface="맑은 고딕"/>
                          <a:ea typeface="맑은 고딕"/>
                          <a:cs typeface="맑은 고딕"/>
                        </a:rPr>
                        <a:t>4:5 카드·블로그·카카오</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graphicFrame>
        <p:nvGraphicFramePr>
          <p:cNvPr id="15" name="표 5"/>
          <p:cNvGraphicFramePr/>
          <p:nvPr/>
        </p:nvGraphicFramePr>
        <p:xfrm>
          <a:off xmlns:a="http://schemas.openxmlformats.org/drawingml/2006/main" x="302952" y="1130530"/>
          <a:ext xmlns:a="http://schemas.openxmlformats.org/drawingml/2006/main" cx="11426308" cy="1371600"/>
        </p:xfrm>
        <a:graphic xmlns:a="http://schemas.openxmlformats.org/drawingml/2006/main">
          <a:graphicData uri="http://schemas.openxmlformats.org/drawingml/2006/table">
            <a:tbl>
              <a:tblPr firstRow="1" bandRow="1">
                <a:tableStyleId>{5C22544A-7EE6-4342-B048-85BDC9FD1C3A}</a:tableStyleId>
              </a:tblPr>
              <a:tblGrid>
                <a:gridCol w="1782764"/>
                <a:gridCol w="9643544"/>
              </a:tblGrid>
              <a:tr h="182880">
                <a:tc>
                  <a:txBody>
                    <a:bodyPr/>
                    <a:lstStyle/>
                    <a:p>
                      <a:pPr algn="ctr">
                        <a:buNone/>
                      </a:pPr>
                      <a:r>
                        <a:rPr b="1">
                          <a:solidFill>
                            <a:schemeClr val="bg1"/>
                          </a:solidFill>
                        </a:rPr>
                        <a:t>해시태그</a:t>
                      </a:r>
                      <a:r>
                        <a:rPr b="1">
                          <a:solidFill>
                            <a:schemeClr val="bg1"/>
                          </a:solidFill>
                        </a:rPr>
                        <a:t>1</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buNone/>
                      </a:pPr>
                      <a:r>
                        <a:rPr b="0">
                          <a:solidFill>
                            <a:srgbClr val="111111"/>
                          </a:solidFill>
                          <a:latin typeface="맑은 고딕"/>
                          <a:ea typeface="맑은 고딕"/>
                          <a:cs typeface="맑은 고딕"/>
                        </a:rPr>
                        <a:t>#여행 상품 기획 #데이터 기반 #관광 수요 #관광지 분석</a:t>
                      </a:r>
                      <a:endParaRPr b="0" i="1">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182880">
                <a:tc>
                  <a:txBody>
                    <a:bodyPr/>
                    <a:lstStyle/>
                    <a:p>
                      <a:pPr marL="0" marR="0" lvl="0" indent="0" algn="ctr" defTabSz="914400">
                        <a:lnSpc>
                          <a:spcPct val="100000"/>
                        </a:lnSpc>
                        <a:spcBef>
                          <a:spcPts val="0"/>
                        </a:spcBef>
                        <a:spcAft>
                          <a:spcPts val="0"/>
                        </a:spcAft>
                        <a:buClrTx/>
                        <a:buSzTx/>
                        <a:buFontTx/>
                        <a:buNone/>
                      </a:pPr>
                      <a:r>
                        <a:rPr b="1">
                          <a:solidFill>
                            <a:schemeClr val="bg1"/>
                          </a:solidFill>
                        </a:rPr>
                        <a:t>연계기능</a:t>
                      </a:r>
                      <a:r>
                        <a:rPr b="1">
                          <a:solidFill>
                            <a:schemeClr val="bg1"/>
                          </a:solidFill>
                        </a:rPr>
                        <a:t>1</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buNone/>
                      </a:pPr>
                      <a:r>
                        <a:rPr b="0">
                          <a:solidFill>
                            <a:srgbClr val="111111"/>
                          </a:solidFill>
                          <a:latin typeface="맑은 고딕"/>
                          <a:ea typeface="맑은 고딕"/>
                          <a:cs typeface="맑은 고딕"/>
                        </a:rPr>
                        <a:t>KTO 실데이터 근거를 연결한 여행상품 통합 기획</a:t>
                      </a:r>
                      <a:endParaRPr b="0" i="1">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236913">
                <a:tc>
                  <a:txBody>
                    <a:bodyPr/>
                    <a:lstStyle/>
                    <a:p>
                      <a:pPr algn="ctr">
                        <a:buNone/>
                      </a:pPr>
                      <a:r>
                        <a:rPr b="1">
                          <a:solidFill>
                            <a:schemeClr val="bg1"/>
                          </a:solidFill>
                        </a:rPr>
                        <a:t>기능설명</a:t>
                      </a:r>
                      <a:r>
                        <a:rPr b="1">
                          <a:solidFill>
                            <a:schemeClr val="bg1"/>
                          </a:solidFill>
                        </a:rPr>
                        <a:t>1</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marL="0" marR="0" lvl="0" indent="0" algn="l" defTabSz="914400">
                        <a:lnSpc>
                          <a:spcPct val="100000"/>
                        </a:lnSpc>
                        <a:spcBef>
                          <a:spcPts val="0"/>
                        </a:spcBef>
                        <a:spcAft>
                          <a:spcPts val="0"/>
                        </a:spcAft>
                        <a:buClrTx/>
                        <a:buSzTx/>
                        <a:buFontTx/>
                        <a:buNone/>
                      </a:pPr>
                      <a:r>
                        <a:rPr b="0">
                          <a:solidFill>
                            <a:srgbClr val="111111"/>
                          </a:solidFill>
                          <a:latin typeface="맑은 고딕"/>
                          <a:ea typeface="맑은 고딕"/>
                          <a:cs typeface="맑은 고딕"/>
                        </a:rPr>
                        <a:t>조건 입력부터 KTO 조회, AI 생성, 일정·견적·홍보물 검토까지 로그인 없이 한 흐름으로 실행한다.</a:t>
                      </a:r>
                      <a:endParaRPr b="0">
                        <a:solidFill>
                          <a:srgbClr val="FF0000"/>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sp>
        <p:nvSpPr>
          <p:cNvPr id="7" name="직사각형 6">
            <a:extLst xmlns:a="http://schemas.openxmlformats.org/drawingml/2006/main">
              <a:ext uri="{FF2B5EF4-FFF2-40B4-BE49-F238E27FC236}">
                <a16:creationId xmlns:a16="http://schemas.microsoft.com/office/drawing/2014/main" id="{432064ED-88A2-4820-83D2-C16B75CEE834}"/>
              </a:ext>
            </a:extLst>
          </p:cNvPr>
          <p:cNvSpPr>
            <a:spLocks xmlns:a="http://schemas.openxmlformats.org/drawingml/2006/main" noGrp="1"/>
          </p:cNvSpPr>
          <p:nvPr/>
        </p:nvSpPr>
        <p:spPr>
          <a:xfrm xmlns:a="http://schemas.openxmlformats.org/drawingml/2006/main">
            <a:off x="0" y="0"/>
            <a:ext cx="0" cy="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endParaRP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866c633c3074f60"/>
          <a:stretch xmlns:a="http://schemas.openxmlformats.org/drawingml/2006/main"/>
        </p:blipFill>
        <p:spPr>
          <a:xfrm xmlns:a="http://schemas.openxmlformats.org/drawingml/2006/main">
            <a:off x="381000" y="3402806"/>
            <a:ext cx="2667000" cy="1500188"/>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2f1b836a516480f"/>
          <a:stretch xmlns:a="http://schemas.openxmlformats.org/drawingml/2006/main"/>
        </p:blipFill>
        <p:spPr>
          <a:xfrm xmlns:a="http://schemas.openxmlformats.org/drawingml/2006/main">
            <a:off x="3238500" y="3402806"/>
            <a:ext cx="2667000" cy="1500188"/>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d123e1f94c848ff"/>
          <a:stretch xmlns:a="http://schemas.openxmlformats.org/drawingml/2006/main"/>
        </p:blipFill>
        <p:spPr>
          <a:xfrm xmlns:a="http://schemas.openxmlformats.org/drawingml/2006/main">
            <a:off x="6096000" y="3402806"/>
            <a:ext cx="2667000" cy="1500188"/>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f77869b5d5a42d9"/>
          <a:stretch xmlns:a="http://schemas.openxmlformats.org/drawingml/2006/main"/>
        </p:blipFill>
        <p:spPr>
          <a:xfrm xmlns:a="http://schemas.openxmlformats.org/drawingml/2006/main">
            <a:off x="8953500" y="3402806"/>
            <a:ext cx="2667000" cy="1500188"/>
          </a:xfrm>
          <a:prstGeom xmlns:a="http://schemas.openxmlformats.org/drawingml/2006/main" prst="rect">
            <a:avLst/>
          </a:prstGeom>
        </p:spPr>
      </p:pic>
    </p:spTree>
    <p:extLst>
      <p:ext uri="{BB962C8B-B14F-4D97-AF65-F5344CB8AC3E}">
        <p14:creationId xmlns:p14="http://schemas.microsoft.com/office/powerpoint/2010/main" val="671940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graphicFrame>
        <p:nvGraphicFramePr>
          <p:cNvPr id="7" name="표 2"/>
          <p:cNvGraphicFramePr/>
          <p:nvPr/>
        </p:nvGraphicFramePr>
        <p:xfrm>
          <a:off xmlns:a="http://schemas.openxmlformats.org/drawingml/2006/main" x="271088" y="1065401"/>
          <a:ext xmlns:a="http://schemas.openxmlformats.org/drawingml/2006/main" cx="11649825" cy="5570292"/>
        </p:xfrm>
        <a:graphic xmlns:a="http://schemas.openxmlformats.org/drawingml/2006/main">
          <a:graphicData uri="http://schemas.openxmlformats.org/drawingml/2006/table">
            <a:tbl>
              <a:tblPr firstRow="1" bandRow="1">
                <a:tableStyleId>{5C22544A-7EE6-4342-B048-85BDC9FD1C3A}</a:tableStyleId>
              </a:tblPr>
              <a:tblGrid>
                <a:gridCol w="1955222"/>
                <a:gridCol w="9694603"/>
              </a:tblGrid>
              <a:tr h="2785146">
                <a:tc>
                  <a:txBody>
                    <a:bodyPr/>
                    <a:lstStyle/>
                    <a:p>
                      <a:pPr algn="ctr">
                        <a:buNone/>
                      </a:pPr>
                      <a:r>
                        <a:rPr b="1">
                          <a:solidFill>
                            <a:schemeClr val="bg1"/>
                          </a:solidFill>
                        </a:rPr>
                        <a:t>서비스</a:t>
                      </a:r>
                      <a:endParaRPr b="1">
                        <a:solidFill>
                          <a:schemeClr val="bg1"/>
                        </a:solidFill>
                      </a:endParaRPr>
                    </a:p>
                    <a:p>
                      <a:pPr algn="ctr">
                        <a:buNone/>
                      </a:pPr>
                      <a:r>
                        <a:rPr b="1">
                          <a:solidFill>
                            <a:schemeClr val="bg1"/>
                          </a:solidFill>
                        </a:rPr>
                        <a:t>대표 이미지</a:t>
                      </a:r>
                      <a:endParaRPr b="1">
                        <a:solidFill>
                          <a:schemeClr val="bg1"/>
                        </a:solidFill>
                      </a:endParaRPr>
                    </a:p>
                    <a:p>
                      <a:pPr algn="ctr">
                        <a:buNone/>
                      </a:pPr>
                      <a:r>
                        <a:rPr b="1">
                          <a:solidFill>
                            <a:schemeClr val="bg1"/>
                          </a:solidFill>
                        </a:rPr>
                        <a:t>(</a:t>
                      </a:r>
                      <a:r>
                        <a:rPr b="1">
                          <a:solidFill>
                            <a:schemeClr val="bg1"/>
                          </a:solidFill>
                        </a:rPr>
                        <a:t>썸네일</a:t>
                      </a:r>
                      <a:r>
                        <a:rPr b="1">
                          <a:solidFill>
                            <a:schemeClr val="bg1"/>
                          </a:solidFill>
                        </a:rPr>
                        <a:t>)</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marR="0" lvl="0" indent="0" algn="just" defTabSz="914400">
                        <a:lnSpc>
                          <a:spcPct val="100000"/>
                        </a:lnSpc>
                        <a:spcBef>
                          <a:spcPts val="0"/>
                        </a:spcBef>
                        <a:spcAft>
                          <a:spcPts val="0"/>
                        </a:spcAft>
                        <a:buClrTx/>
                        <a:buSzTx/>
                        <a:buFontTx/>
                        <a:buNone/>
                      </a:pPr>
                      <a:r>
                        <a:rPr sz="1800" b="0">
                          <a:solidFill>
                            <a:srgbClr val="FF0000"/>
                          </a:solidFill>
                          <a:latin typeface="+mn-lt"/>
                          <a:ea typeface="+mn-lt"/>
                          <a:cs typeface="+mn-lt"/>
                        </a:rPr>
                        <a:t/>
                      </a:r>
                      <a:endParaRPr sz="1800" b="0">
                        <a:solidFill>
                          <a:srgbClr val="FF0000"/>
                        </a:solidFill>
                        <a:latin typeface="+mn-lt"/>
                        <a:ea typeface="+mn-lt"/>
                        <a:cs typeface="+mn-lt"/>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2785146">
                <a:tc>
                  <a:txBody>
                    <a:bodyPr/>
                    <a:lstStyle/>
                    <a:p>
                      <a:pPr algn="ctr">
                        <a:buNone/>
                      </a:pPr>
                      <a:r>
                        <a:rPr b="1">
                          <a:solidFill>
                            <a:schemeClr val="bg1"/>
                          </a:solidFill>
                        </a:rPr>
                        <a:t>서비스</a:t>
                      </a:r>
                      <a:endParaRPr b="1">
                        <a:solidFill>
                          <a:schemeClr val="bg1"/>
                        </a:solidFill>
                      </a:endParaRPr>
                    </a:p>
                    <a:p>
                      <a:pPr algn="ctr">
                        <a:buNone/>
                      </a:pPr>
                      <a:r>
                        <a:rPr b="1">
                          <a:solidFill>
                            <a:schemeClr val="bg1"/>
                          </a:solidFill>
                        </a:rPr>
                        <a:t>상세 이미지</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marR="0" lvl="0" indent="0" algn="just" defTabSz="914400">
                        <a:lnSpc>
                          <a:spcPct val="100000"/>
                        </a:lnSpc>
                        <a:spcBef>
                          <a:spcPts val="0"/>
                        </a:spcBef>
                        <a:spcAft>
                          <a:spcPts val="0"/>
                        </a:spcAft>
                        <a:buClrTx/>
                        <a:buSzTx/>
                        <a:buFontTx/>
                        <a:buNone/>
                      </a:pPr>
                      <a:r>
                        <a:rPr sz="1800" b="0">
                          <a:solidFill>
                            <a:srgbClr val="FF0000"/>
                          </a:solidFill>
                          <a:latin typeface="+mn-lt"/>
                          <a:ea typeface="+mn-lt"/>
                          <a:cs typeface="+mn-lt"/>
                        </a:rPr>
                        <a:t/>
                      </a:r>
                      <a:endParaRPr sz="1800" b="0">
                        <a:solidFill>
                          <a:srgbClr val="FF0000"/>
                        </a:solidFill>
                        <a:latin typeface="+mn-lt"/>
                        <a:ea typeface="+mn-lt"/>
                        <a:cs typeface="+mn-lt"/>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5ded60a7ef9d4422"/>
          <a:stretch xmlns:a="http://schemas.openxmlformats.org/drawingml/2006/main"/>
        </p:blipFill>
        <p:spPr>
          <a:xfrm xmlns:a="http://schemas.openxmlformats.org/drawingml/2006/main">
            <a:off x="4814358" y="1181100"/>
            <a:ext cx="4487333" cy="2524125"/>
          </a:xfrm>
          <a:prstGeom xmlns:a="http://schemas.openxmlformats.org/drawingml/2006/main" prst="rect">
            <a:avLst/>
          </a:prstGeom>
        </p:spPr>
      </p:pic>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5ec09ec4fe84952"/>
          <a:stretch xmlns:a="http://schemas.openxmlformats.org/drawingml/2006/main"/>
        </p:blipFill>
        <p:spPr>
          <a:xfrm xmlns:a="http://schemas.openxmlformats.org/drawingml/2006/main">
            <a:off x="2333625" y="4574977"/>
            <a:ext cx="2190750" cy="1232297"/>
          </a:xfrm>
          <a:prstGeom xmlns:a="http://schemas.openxmlformats.org/drawingml/2006/main" prst="rect">
            <a:avLst/>
          </a:prstGeom>
        </p:spPr>
      </p:pic>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8cb51f6ce4743ee"/>
          <a:stretch xmlns:a="http://schemas.openxmlformats.org/drawingml/2006/main"/>
        </p:blipFill>
        <p:spPr>
          <a:xfrm xmlns:a="http://schemas.openxmlformats.org/drawingml/2006/main">
            <a:off x="4686300" y="4574977"/>
            <a:ext cx="2190750" cy="1232297"/>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ff77e1133fdc434d"/>
          <a:stretch xmlns:a="http://schemas.openxmlformats.org/drawingml/2006/main"/>
        </p:blipFill>
        <p:spPr>
          <a:xfrm xmlns:a="http://schemas.openxmlformats.org/drawingml/2006/main">
            <a:off x="7038975" y="4574977"/>
            <a:ext cx="2190750" cy="1232297"/>
          </a:xfrm>
          <a:prstGeom xmlns:a="http://schemas.openxmlformats.org/drawingml/2006/main" prst="rect">
            <a:avLst/>
          </a:prstGeom>
        </p:spPr>
      </p:pic>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7edcc3128ff416f"/>
          <a:stretch xmlns:a="http://schemas.openxmlformats.org/drawingml/2006/main"/>
        </p:blipFill>
        <p:spPr>
          <a:xfrm xmlns:a="http://schemas.openxmlformats.org/drawingml/2006/main">
            <a:off x="9391650" y="4574977"/>
            <a:ext cx="2190750" cy="1232297"/>
          </a:xfrm>
          <a:prstGeom xmlns:a="http://schemas.openxmlformats.org/drawingml/2006/main" prst="rect">
            <a:avLst/>
          </a:prstGeom>
        </p:spPr>
      </p:pic>
    </p:spTree>
    <p:extLst>
      <p:ext uri="{BB962C8B-B14F-4D97-AF65-F5344CB8AC3E}">
        <p14:creationId xmlns:p14="http://schemas.microsoft.com/office/powerpoint/2010/main" val="282296920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9AAD86E5-12FB-47FB-B6B2-31A4B3CA1ADF}"/>
              </a:ext>
            </a:extLst>
          </p:cNvPr>
          <p:cNvSpPr>
            <a:spLocks xmlns:a="http://schemas.openxmlformats.org/drawingml/2006/main" noGrp="1"/>
          </p:cNvSpPr>
          <p:nvPr/>
        </p:nvSpPr>
        <p:spPr>
          <a:xfrm xmlns:a="http://schemas.openxmlformats.org/drawingml/2006/main">
            <a:off x="174567" y="1101012"/>
            <a:ext cx="4770658" cy="307777"/>
          </a:xfrm>
          <a:prstGeom xmlns:a="http://schemas.openxmlformats.org/drawingml/2006/main" prst="rect">
            <a:avLst/>
          </a:prstGeom>
          <a:solidFill xmlns:a="http://schemas.openxmlformats.org/drawingml/2006/main">
            <a:srgbClr val="372472"/>
          </a:solidFill>
        </p:spPr>
        <p:txBody>
          <a:bodyPr xmlns:a="http://schemas.openxmlformats.org/drawingml/2006/main" wrap="square">
            <a:spAutoFit/>
          </a:bodyPr>
          <a:lstStyle xmlns:a="http://schemas.openxmlformats.org/drawingml/2006/main"/>
          <a:p xmlns:a="http://schemas.openxmlformats.org/drawingml/2006/main">
            <a:pPr algn="ctr">
              <a:buNone/>
            </a:pPr>
            <a:r>
              <a:rPr sz="1400" b="1">
                <a:solidFill>
                  <a:schemeClr val="bg1"/>
                </a:solidFill>
              </a:rPr>
              <a:t>서비스 개발에 활용한 한국관광공사 </a:t>
            </a:r>
            <a:r>
              <a:rPr sz="1400" b="1">
                <a:solidFill>
                  <a:schemeClr val="bg1"/>
                </a:solidFill>
              </a:rPr>
              <a:t>OpenAPI </a:t>
            </a:r>
            <a:r>
              <a:rPr sz="1400" b="1">
                <a:solidFill>
                  <a:schemeClr val="bg1"/>
                </a:solidFill>
              </a:rPr>
              <a:t>리스트</a:t>
            </a:r>
          </a:p>
        </p:txBody>
      </p:sp>
      <p:graphicFrame>
        <p:nvGraphicFramePr>
          <p:cNvPr id="6" name="표 6"/>
          <p:cNvGraphicFramePr/>
          <p:nvPr/>
        </p:nvGraphicFramePr>
        <p:xfrm>
          <a:off xmlns:a="http://schemas.openxmlformats.org/drawingml/2006/main" x="174566" y="1646098"/>
          <a:ext xmlns:a="http://schemas.openxmlformats.org/drawingml/2006/main" cx="11746191" cy="3789680"/>
        </p:xfrm>
        <a:graphic xmlns:a="http://schemas.openxmlformats.org/drawingml/2006/main">
          <a:graphicData uri="http://schemas.openxmlformats.org/drawingml/2006/table">
            <a:tbl>
              <a:tblPr firstRow="1" bandRow="1">
                <a:tableStyleId>{5C22544A-7EE6-4342-B048-85BDC9FD1C3A}</a:tableStyleId>
              </a:tblPr>
              <a:tblGrid>
                <a:gridCol w="829450"/>
                <a:gridCol w="1834747"/>
                <a:gridCol w="9081994"/>
              </a:tblGrid>
              <a:tr h="370840">
                <a:tc rowSpan="2">
                  <a:txBody>
                    <a:bodyPr/>
                    <a:lstStyle/>
                    <a:p>
                      <a:pPr algn="ctr">
                        <a:buNone/>
                      </a:pPr>
                      <a:r>
                        <a:rPr sz="3200" b="1">
                          <a:solidFill>
                            <a:schemeClr val="tx1"/>
                          </a:solidFill>
                        </a:rPr>
                        <a:t>1</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solidFill>
                            <a:schemeClr val="bg1"/>
                          </a:solidFill>
                        </a:rPr>
                        <a:t>API</a:t>
                      </a:r>
                      <a:r>
                        <a:rPr b="1">
                          <a:solidFill>
                            <a:schemeClr val="bg1"/>
                          </a:solidFill>
                        </a:rPr>
                        <a:t>명</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marL="0" marR="0" lvl="0" indent="0" algn="just" defTabSz="914400">
                        <a:lnSpc>
                          <a:spcPct val="100000"/>
                        </a:lnSpc>
                        <a:spcBef>
                          <a:spcPts val="0"/>
                        </a:spcBef>
                        <a:spcAft>
                          <a:spcPts val="0"/>
                        </a:spcAft>
                        <a:buClrTx/>
                        <a:buSzTx/>
                        <a:buFontTx/>
                        <a:buNone/>
                      </a:pPr>
                      <a:r>
                        <a:rPr b="0">
                          <a:solidFill>
                            <a:srgbClr val="111111"/>
                          </a:solidFill>
                          <a:latin typeface="맑은 고딕"/>
                          <a:ea typeface="맑은 고딕"/>
                          <a:cs typeface="맑은 고딕"/>
                        </a:rPr>
                        <a:t>한국관광공사 관광정보 OpenAPI KorService2 / areaBasedList2</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70840">
                <a:tc vMerge="1">
                  <a:txBody>
                    <a:bodyPr/>
                    <a:lstStyle/>
                    <a:p>
                      <a:pPr>
                        <a:buNone/>
                      </a:pPr>
                      <a:endParaRPr/>
                    </a:p>
                  </a:txBody>
                  <a:tcPr marL="91440" marR="91440" marT="45720" marB="45720"/>
                </a:tc>
                <a:tc>
                  <a:txBody>
                    <a:bodyPr/>
                    <a:lstStyle/>
                    <a:p>
                      <a:pPr algn="ctr">
                        <a:buNone/>
                      </a:pPr>
                      <a:r>
                        <a:rPr b="1">
                          <a:solidFill>
                            <a:schemeClr val="bg1"/>
                          </a:solidFill>
                        </a:rPr>
                        <a:t>상세설명</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marL="0" marR="0" lvl="0" indent="0" algn="just" defTabSz="914400">
                        <a:lnSpc>
                          <a:spcPct val="100000"/>
                        </a:lnSpc>
                        <a:spcBef>
                          <a:spcPts val="0"/>
                        </a:spcBef>
                        <a:spcAft>
                          <a:spcPts val="0"/>
                        </a:spcAft>
                        <a:buClrTx/>
                        <a:buSzTx/>
                        <a:buFontTx/>
                        <a:buNone/>
                      </a:pPr>
                      <a:r>
                        <a:rPr b="0">
                          <a:solidFill>
                            <a:srgbClr val="111111"/>
                          </a:solidFill>
                          <a:latin typeface="맑은 고딕"/>
                          <a:ea typeface="맑은 고딕"/>
                          <a:cs typeface="맑은 고딕"/>
                        </a:rPr>
                        <a:t>Endpoint: /B551011/KorService2/areaBasedList2</a:t>
                      </a:r>
                    </a:p>
                    <a:p>
                      <a:pPr marL="0" marR="0" lvl="0" indent="0" algn="just" defTabSz="914400">
                        <a:lnSpc>
                          <a:spcPct val="100000"/>
                        </a:lnSpc>
                        <a:spcBef>
                          <a:spcPts val="0"/>
                        </a:spcBef>
                        <a:spcAft>
                          <a:spcPts val="0"/>
                        </a:spcAft>
                        <a:buClrTx/>
                        <a:buSzTx/>
                        <a:buFontTx/>
                        <a:buNone/>
                      </a:pPr>
                      <a:r>
                        <a:rPr b="0">
                          <a:solidFill>
                            <a:srgbClr val="111111"/>
                          </a:solidFill>
                          <a:latin typeface="맑은 고딕"/>
                          <a:ea typeface="맑은 고딕"/>
                          <a:cs typeface="맑은 고딕"/>
                        </a:rPr>
                        <a:t>파라미터: areaCode, contentTypeId, numOfRows, pageNo, MobileOS, MobileApp, _type</a:t>
                      </a:r>
                    </a:p>
                    <a:p>
                      <a:pPr marL="0" marR="0" lvl="0" indent="0" algn="just" defTabSz="914400">
                        <a:lnSpc>
                          <a:spcPct val="100000"/>
                        </a:lnSpc>
                        <a:spcBef>
                          <a:spcPts val="0"/>
                        </a:spcBef>
                        <a:spcAft>
                          <a:spcPts val="0"/>
                        </a:spcAft>
                        <a:buClrTx/>
                        <a:buSzTx/>
                        <a:buFontTx/>
                        <a:buNone/>
                      </a:pPr>
                      <a:r>
                        <a:rPr b="0">
                          <a:solidFill>
                            <a:srgbClr val="111111"/>
                          </a:solidFill>
                          <a:latin typeface="맑은 고딕"/>
                          <a:ea typeface="맑은 고딕"/>
                          <a:cs typeface="맑은 고딕"/>
                        </a:rPr>
                        <a:t>활용 필드: title, addr1, firstimage/firstimage2, contentid, contenttypeid</a:t>
                      </a:r>
                    </a:p>
                    <a:p>
                      <a:pPr marL="0" marR="0" lvl="0" indent="0" algn="just" defTabSz="914400">
                        <a:lnSpc>
                          <a:spcPct val="100000"/>
                        </a:lnSpc>
                        <a:spcBef>
                          <a:spcPts val="0"/>
                        </a:spcBef>
                        <a:spcAft>
                          <a:spcPts val="0"/>
                        </a:spcAft>
                        <a:buClrTx/>
                        <a:buSzTx/>
                        <a:buFontTx/>
                        <a:buNone/>
                      </a:pPr>
                      <a:r>
                        <a:rPr b="0">
                          <a:solidFill>
                            <a:srgbClr val="111111"/>
                          </a:solidFill>
                          <a:latin typeface="맑은 고딕"/>
                          <a:ea typeface="맑은 고딕"/>
                          <a:cs typeface="맑은 고딕"/>
                        </a:rPr>
                        <a:t>활용 위치: AI 상품 초안의 지역 관광지 후보 및 결과 화면의 관광 데이터 근거·관광지 목록</a:t>
                      </a:r>
                    </a:p>
                    <a:p>
                      <a:pPr marL="0" marR="0" lvl="0" indent="0" algn="just" defTabSz="914400">
                        <a:lnSpc>
                          <a:spcPct val="100000"/>
                        </a:lnSpc>
                        <a:spcBef>
                          <a:spcPts val="0"/>
                        </a:spcBef>
                        <a:spcAft>
                          <a:spcPts val="0"/>
                        </a:spcAft>
                        <a:buClrTx/>
                        <a:buSzTx/>
                        <a:buFontTx/>
                        <a:buNone/>
                      </a:pPr>
                      <a:r>
                        <a:rPr b="0">
                          <a:solidFill>
                            <a:srgbClr val="111111"/>
                          </a:solidFill>
                          <a:latin typeface="맑은 고딕"/>
                          <a:ea typeface="맑은 고딕"/>
                          <a:cs typeface="맑은 고딕"/>
                        </a:rPr>
                        <a:t>성공 판정: HTTP 성공 + resultCode 0000(또는 미기재) + 관광지 1건 이상</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rowSpan="2">
                  <a:txBody>
                    <a:bodyPr/>
                    <a:lstStyle/>
                    <a:p>
                      <a:pPr algn="ctr">
                        <a:buNone/>
                      </a:pPr>
                      <a:r>
                        <a:rPr sz="3200" b="1">
                          <a:latin typeface="맑은 고딕"/>
                          <a:ea typeface="맑은 고딕"/>
                          <a:cs typeface="맑은 고딕"/>
                          <a:solidFill>
                            <a:schemeClr val="tx1"/>
                          </a:solidFill>
                        </a:rPr>
                        <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vMerge="1">
                  <a:txBody>
                    <a:bodyPr/>
                    <a:lstStyle/>
                    <a:p>
                      <a:pPr>
                        <a:buNone/>
                      </a:pPr>
                      <a:r>
                        <a:rPr>
                          <a:solidFill>
                            <a:srgbClr val="111111"/>
                          </a:solidFill>
                          <a:latin typeface="맑은 고딕"/>
                          <a:ea typeface="맑은 고딕"/>
                          <a:cs typeface="맑은 고딕"/>
                        </a:rPr>
                        <a:t/>
                      </a:r>
                      <a:endParaRPr/>
                    </a:p>
                  </a:txBody>
                  <a:tcPr marL="91440" marR="91440" marT="45720" marB="45720"/>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rowSpan="2">
                  <a:txBody>
                    <a:bodyPr/>
                    <a:lstStyle/>
                    <a:p>
                      <a:pPr algn="ctr">
                        <a:buNone/>
                      </a:pPr>
                      <a:r>
                        <a:rPr sz="3200" b="1">
                          <a:latin typeface="맑은 고딕"/>
                          <a:ea typeface="맑은 고딕"/>
                          <a:cs typeface="맑은 고딕"/>
                          <a:solidFill>
                            <a:schemeClr val="tx1"/>
                          </a:solidFill>
                        </a:rPr>
                        <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vMerge="1">
                  <a:txBody>
                    <a:bodyPr/>
                    <a:lstStyle/>
                    <a:p>
                      <a:pPr algn="ctr">
                        <a:buNone/>
                      </a:pPr>
                      <a:r>
                        <a:rPr>
                          <a:solidFill>
                            <a:srgbClr val="111111"/>
                          </a:solidFill>
                          <a:latin typeface="맑은 고딕"/>
                          <a:ea typeface="맑은 고딕"/>
                          <a:cs typeface="맑은 고딕"/>
                        </a:rPr>
                        <a:t/>
                      </a:r>
                      <a:endParaRPr sz="3200"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chemeClr val="tx1"/>
                    </a:solidFill>
                  </a:tcPr>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rowSpan="2">
                  <a:txBody>
                    <a:bodyPr/>
                    <a:lstStyle/>
                    <a:p>
                      <a:pPr algn="ctr">
                        <a:buNone/>
                      </a:pPr>
                      <a:r>
                        <a:rPr sz="3200" b="1">
                          <a:latin typeface="맑은 고딕"/>
                          <a:ea typeface="맑은 고딕"/>
                          <a:cs typeface="맑은 고딕"/>
                          <a:solidFill>
                            <a:schemeClr val="tx1"/>
                          </a:solidFill>
                        </a:rPr>
                        <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vMerge="1">
                  <a:txBody>
                    <a:bodyPr/>
                    <a:lstStyle/>
                    <a:p>
                      <a:pPr algn="ctr">
                        <a:buNone/>
                      </a:pPr>
                      <a:r>
                        <a:rPr>
                          <a:solidFill>
                            <a:srgbClr val="111111"/>
                          </a:solidFill>
                          <a:latin typeface="맑은 고딕"/>
                          <a:ea typeface="맑은 고딕"/>
                          <a:cs typeface="맑은 고딕"/>
                        </a:rPr>
                        <a:t/>
                      </a:r>
                      <a:endParaRPr sz="3200"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chemeClr val="tx1"/>
                    </a:solidFill>
                  </a:tcPr>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rowSpan="2">
                  <a:txBody>
                    <a:bodyPr/>
                    <a:lstStyle/>
                    <a:p>
                      <a:pPr algn="ctr">
                        <a:buNone/>
                      </a:pPr>
                      <a:r>
                        <a:rPr sz="3200" b="1">
                          <a:latin typeface="맑은 고딕"/>
                          <a:ea typeface="맑은 고딕"/>
                          <a:cs typeface="맑은 고딕"/>
                          <a:solidFill>
                            <a:schemeClr val="tx1"/>
                          </a:solidFill>
                        </a:rPr>
                        <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vMerge="1">
                  <a:txBody>
                    <a:bodyPr/>
                    <a:lstStyle/>
                    <a:p>
                      <a:pPr algn="ctr">
                        <a:buNone/>
                      </a:pPr>
                      <a:r>
                        <a:rPr>
                          <a:solidFill>
                            <a:srgbClr val="111111"/>
                          </a:solidFill>
                          <a:latin typeface="맑은 고딕"/>
                          <a:ea typeface="맑은 고딕"/>
                          <a:cs typeface="맑은 고딕"/>
                        </a:rPr>
                        <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spTree>
    <p:extLst>
      <p:ext uri="{BB962C8B-B14F-4D97-AF65-F5344CB8AC3E}">
        <p14:creationId xmlns:p14="http://schemas.microsoft.com/office/powerpoint/2010/main" val="222294703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F187E68C-627E-4C5E-8CDF-B5F477FF8281}"/>
              </a:ext>
            </a:extLst>
          </p:cNvPr>
          <p:cNvSpPr>
            <a:spLocks xmlns:a="http://schemas.openxmlformats.org/drawingml/2006/main" noGrp="1"/>
          </p:cNvSpPr>
          <p:nvPr/>
        </p:nvSpPr>
        <p:spPr>
          <a:xfrm xmlns:a="http://schemas.openxmlformats.org/drawingml/2006/main">
            <a:off x="174567" y="1101012"/>
            <a:ext cx="3893580" cy="307777"/>
          </a:xfrm>
          <a:prstGeom xmlns:a="http://schemas.openxmlformats.org/drawingml/2006/main" prst="rect">
            <a:avLst/>
          </a:prstGeom>
          <a:solidFill xmlns:a="http://schemas.openxmlformats.org/drawingml/2006/main">
            <a:srgbClr val="372472"/>
          </a:solidFill>
        </p:spPr>
        <p:txBody>
          <a:bodyPr xmlns:a="http://schemas.openxmlformats.org/drawingml/2006/main" wrap="square">
            <a:spAutoFit/>
          </a:bodyPr>
          <a:lstStyle xmlns:a="http://schemas.openxmlformats.org/drawingml/2006/main"/>
          <a:p xmlns:a="http://schemas.openxmlformats.org/drawingml/2006/main">
            <a:pPr algn="ctr">
              <a:buNone/>
            </a:pPr>
            <a:r>
              <a:rPr sz="1400" b="1">
                <a:solidFill>
                  <a:schemeClr val="bg1"/>
                </a:solidFill>
              </a:rPr>
              <a:t>서비스 개발에 활용한 기타 </a:t>
            </a:r>
            <a:r>
              <a:rPr sz="1400" b="1">
                <a:solidFill>
                  <a:schemeClr val="bg1"/>
                </a:solidFill>
              </a:rPr>
              <a:t>API, </a:t>
            </a:r>
            <a:r>
              <a:rPr sz="1400" b="1">
                <a:solidFill>
                  <a:schemeClr val="bg1"/>
                </a:solidFill>
              </a:rPr>
              <a:t>파일데이터</a:t>
            </a:r>
            <a:endParaRPr sz="1400" b="1">
              <a:solidFill>
                <a:schemeClr val="bg1"/>
              </a:solidFill>
            </a:endParaRPr>
          </a:p>
        </p:txBody>
      </p:sp>
      <p:graphicFrame>
        <p:nvGraphicFramePr>
          <p:cNvPr id="9" name="표 6"/>
          <p:cNvGraphicFramePr/>
          <p:nvPr/>
        </p:nvGraphicFramePr>
        <p:xfrm>
          <a:off xmlns:a="http://schemas.openxmlformats.org/drawingml/2006/main" x="174566" y="1646098"/>
          <a:ext xmlns:a="http://schemas.openxmlformats.org/drawingml/2006/main" cx="11628657" cy="2265680"/>
        </p:xfrm>
        <a:graphic xmlns:a="http://schemas.openxmlformats.org/drawingml/2006/main">
          <a:graphicData uri="http://schemas.openxmlformats.org/drawingml/2006/table">
            <a:tbl>
              <a:tblPr firstRow="1" bandRow="1">
                <a:tableStyleId>{5C22544A-7EE6-4342-B048-85BDC9FD1C3A}</a:tableStyleId>
              </a:tblPr>
              <a:tblGrid>
                <a:gridCol w="821150"/>
                <a:gridCol w="1816388"/>
                <a:gridCol w="8991119"/>
              </a:tblGrid>
              <a:tr h="370840">
                <a:tc rowSpan="2">
                  <a:txBody>
                    <a:bodyPr/>
                    <a:lstStyle/>
                    <a:p>
                      <a:pPr algn="ctr">
                        <a:buNone/>
                      </a:pPr>
                      <a:r>
                        <a:rPr sz="3200" b="1">
                          <a:solidFill>
                            <a:schemeClr val="tx1"/>
                          </a:solidFill>
                        </a:rPr>
                        <a:t>1</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solidFill>
                            <a:schemeClr val="bg1"/>
                          </a:solidFill>
                        </a:rPr>
                        <a:t>데이터명</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marL="0" marR="0" lvl="0" indent="0" algn="just" defTabSz="914400">
                        <a:lnSpc>
                          <a:spcPct val="100000"/>
                        </a:lnSpc>
                        <a:spcBef>
                          <a:spcPts val="0"/>
                        </a:spcBef>
                        <a:spcAft>
                          <a:spcPts val="0"/>
                        </a:spcAft>
                        <a:buClrTx/>
                        <a:buSzTx/>
                        <a:buFontTx/>
                        <a:buNone/>
                      </a:pPr>
                      <a:r>
                        <a:rPr>
                          <a:solidFill>
                            <a:srgbClr val="111111"/>
                          </a:solidFill>
                          <a:latin typeface="맑은 고딕"/>
                          <a:ea typeface="맑은 고딕"/>
                          <a:cs typeface="맑은 고딕"/>
                        </a:rPr>
                        <a:t>Anthropic Messages API</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70840">
                <a:tc vMerge="1">
                  <a:txBody>
                    <a:bodyPr/>
                    <a:lstStyle/>
                    <a:p>
                      <a:pPr>
                        <a:buNone/>
                      </a:pPr>
                      <a:endParaRPr/>
                    </a:p>
                  </a:txBody>
                  <a:tcPr marL="91440" marR="91440" marT="45720" marB="45720"/>
                </a:tc>
                <a:tc>
                  <a:txBody>
                    <a:bodyPr/>
                    <a:lstStyle/>
                    <a:p>
                      <a:pPr algn="ctr">
                        <a:buNone/>
                      </a:pPr>
                      <a:r>
                        <a:rPr b="1">
                          <a:solidFill>
                            <a:schemeClr val="bg1"/>
                          </a:solidFill>
                        </a:rPr>
                        <a:t>상세설명</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marL="0" marR="0" lvl="0" indent="0" algn="just" defTabSz="914400">
                        <a:lnSpc>
                          <a:spcPct val="100000"/>
                        </a:lnSpc>
                        <a:spcBef>
                          <a:spcPts val="0"/>
                        </a:spcBef>
                        <a:spcAft>
                          <a:spcPts val="0"/>
                        </a:spcAft>
                        <a:buClrTx/>
                        <a:buSzTx/>
                        <a:buFontTx/>
                        <a:buNone/>
                      </a:pPr>
                      <a:r>
                        <a:rPr>
                          <a:solidFill>
                            <a:srgbClr val="111111"/>
                          </a:solidFill>
                          <a:latin typeface="맑은 고딕"/>
                          <a:ea typeface="맑은 고딕"/>
                          <a:cs typeface="맑은 고딕"/>
                        </a:rPr>
                        <a:t>Netlify Function에서만 호출해 상품명·컨셉·일정·포함/불포함·홍보문구와 블로그 초안을 구조화한다. API 오류는 성공으로 숨기지 않으며 키는 브라우저에 전달하지 않는다.</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rowSpan="2">
                  <a:txBody>
                    <a:bodyPr/>
                    <a:lstStyle/>
                    <a:p>
                      <a:pPr algn="ctr">
                        <a:buNone/>
                      </a:pPr>
                      <a:r>
                        <a:rPr sz="3200" b="1">
                          <a:solidFill>
                            <a:schemeClr val="tx1"/>
                          </a:solidFill>
                        </a:rPr>
                        <a:t>2</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solidFill>
                            <a:schemeClr val="bg1"/>
                          </a:solidFill>
                        </a:rPr>
                        <a:t>데이터명</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브라우저 Local Storage 및 URL-safe 공유 데이터</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vMerge="1">
                  <a:txBody>
                    <a:bodyPr/>
                    <a:lstStyle/>
                    <a:p>
                      <a:pPr>
                        <a:buNone/>
                      </a:pPr>
                      <a:endParaRPr/>
                    </a:p>
                  </a:txBody>
                  <a:tcPr marL="91440" marR="91440" marT="45720" marB="45720"/>
                </a:tc>
                <a:tc>
                  <a:txBody>
                    <a:bodyPr/>
                    <a:lstStyle/>
                    <a:p>
                      <a:pPr algn="ctr">
                        <a:buNone/>
                      </a:pPr>
                      <a:r>
                        <a:rPr b="1">
                          <a:solidFill>
                            <a:schemeClr val="bg1"/>
                          </a:solidFill>
                        </a:rPr>
                        <a:t>상세설명</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기획서 저장·백업·공유 링크에 사용한다. 제출·데모에는 실제 고객 개인정보·예약·결제 정보를 저장하지 않는다.</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rowSpan="2">
                  <a:txBody>
                    <a:bodyPr/>
                    <a:lstStyle/>
                    <a:p>
                      <a:pPr algn="ctr">
                        <a:buNone/>
                      </a:pPr>
                      <a:r>
                        <a:rPr sz="3200" b="1">
                          <a:latin typeface="맑은 고딕"/>
                          <a:ea typeface="맑은 고딕"/>
                          <a:cs typeface="맑은 고딕"/>
                          <a:solidFill>
                            <a:schemeClr val="tx1"/>
                          </a:solidFill>
                        </a:rPr>
                        <a:t/>
                      </a:r>
                      <a:endParaRPr sz="3200" b="1">
                        <a:solidFill>
                          <a:schemeClr val="tx1"/>
                        </a:solidFill>
                      </a:endParaRPr>
                    </a:p>
                  </a:txBody>
                  <a:tcPr marL="91440" marR="91440" marT="45720" marB="45720" anchor="ctr">
                    <a:lnL w="12700" cmpd="sng">
                      <a:noFill/>
                      <a:prstDash val="solid"/>
                    </a:lnL>
                    <a:lnR w="12700" cmpd="sng">
                      <a:solidFill>
                        <a:schemeClr val="bg1">
                          <a:lumMod val="85000"/>
                        </a:schemeClr>
                      </a:solidFill>
                      <a:prstDash val="solid"/>
                    </a:lnR>
                    <a:lnT w="12700" cmpd="sng">
                      <a:noFill/>
                      <a:prstDash val="solid"/>
                    </a:lnT>
                    <a:lnB w="12700" cmpd="sng">
                      <a:noFill/>
                      <a:prstDash val="solid"/>
                    </a:lnB>
                    <a:noFill/>
                  </a:tcPr>
                </a:tc>
                <a:tc>
                  <a:txBody>
                    <a:bodyPr/>
                    <a:lstStyle/>
                    <a:p>
                      <a:pPr algn="ctr">
                        <a:buNone/>
                      </a:pPr>
                      <a:r>
                        <a:rPr b="1">
                          <a:latin typeface="맑은 고딕"/>
                          <a:ea typeface="맑은 고딕"/>
                          <a:cs typeface="맑은 고딕"/>
                          <a:solidFill>
                            <a:schemeClr val="bg1"/>
                          </a:solidFill>
                        </a:rPr>
                        <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381000">
                <a:tc vMerge="1">
                  <a:txBody>
                    <a:bodyPr/>
                    <a:lstStyle/>
                    <a:p>
                      <a:pPr algn="ctr">
                        <a:buNone/>
                      </a:pPr>
                      <a:r>
                        <a:rPr>
                          <a:solidFill>
                            <a:srgbClr val="111111"/>
                          </a:solidFill>
                          <a:latin typeface="맑은 고딕"/>
                          <a:ea typeface="맑은 고딕"/>
                          <a:cs typeface="맑은 고딕"/>
                        </a:rPr>
                        <a:t/>
                      </a:r>
                      <a:endParaRPr sz="3200"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chemeClr val="tx1"/>
                    </a:solidFill>
                  </a:tcPr>
                </a:tc>
                <a:tc>
                  <a:txBody>
                    <a:bodyPr/>
                    <a:lstStyle/>
                    <a:p>
                      <a:pPr algn="ctr">
                        <a:buNone/>
                      </a:pPr>
                      <a:r>
                        <a:rPr b="1">
                          <a:latin typeface="맑은 고딕"/>
                          <a:ea typeface="맑은 고딕"/>
                          <a:cs typeface="맑은 고딕"/>
                          <a:solidFill>
                            <a:schemeClr val="bg1"/>
                          </a:solidFill>
                        </a:rPr>
                        <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499DBF"/>
                    </a:solidFill>
                  </a:tcPr>
                </a:tc>
                <a:tc>
                  <a:txBody>
                    <a:bodyPr/>
                    <a:lstStyle/>
                    <a:p>
                      <a:pPr algn="just">
                        <a:buNone/>
                      </a:pPr>
                      <a:r>
                        <a:rPr>
                          <a:solidFill>
                            <a:srgbClr val="111111"/>
                          </a:solidFill>
                          <a:latin typeface="맑은 고딕"/>
                          <a:ea typeface="맑은 고딕"/>
                          <a:cs typeface="맑은 고딕"/>
                        </a:rPr>
                        <a:t/>
                      </a:r>
                      <a:endParaRPr b="0">
                        <a:solidFill>
                          <a:schemeClr val="tx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sp>
        <p:nvSpPr>
          <p:cNvPr id="6" name="직사각형 5">
            <a:extLst xmlns:a="http://schemas.openxmlformats.org/drawingml/2006/main">
              <a:ext uri="{FF2B5EF4-FFF2-40B4-BE49-F238E27FC236}">
                <a16:creationId xmlns:a16="http://schemas.microsoft.com/office/drawing/2014/main" id="{03669267-DDD2-4047-BE98-0F335C36887A}"/>
              </a:ext>
            </a:extLst>
          </p:cNvPr>
          <p:cNvSpPr>
            <a:spLocks xmlns:a="http://schemas.openxmlformats.org/drawingml/2006/main" noGrp="1"/>
          </p:cNvSpPr>
          <p:nvPr/>
        </p:nvSpPr>
        <p:spPr>
          <a:xfrm xmlns:a="http://schemas.openxmlformats.org/drawingml/2006/main">
            <a:off x="0" y="0"/>
            <a:ext cx="0" cy="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endParaRPr/>
          </a:p>
        </p:txBody>
      </p:sp>
    </p:spTree>
    <p:extLst>
      <p:ext uri="{BB962C8B-B14F-4D97-AF65-F5344CB8AC3E}">
        <p14:creationId xmlns:p14="http://schemas.microsoft.com/office/powerpoint/2010/main" val="317735648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graphicFrame>
        <p:nvGraphicFramePr>
          <p:cNvPr id="2" name="표 2"/>
          <p:cNvGraphicFramePr/>
          <p:nvPr/>
        </p:nvGraphicFramePr>
        <p:xfrm>
          <a:off xmlns:a="http://schemas.openxmlformats.org/drawingml/2006/main" x="287250" y="1218429"/>
          <a:ext xmlns:a="http://schemas.openxmlformats.org/drawingml/2006/main" cx="11649825" cy="5074306"/>
        </p:xfrm>
        <a:graphic xmlns:a="http://schemas.openxmlformats.org/drawingml/2006/main">
          <a:graphicData uri="http://schemas.openxmlformats.org/drawingml/2006/table">
            <a:tbl>
              <a:tblPr firstRow="1" bandRow="1">
                <a:tableStyleId>{5C22544A-7EE6-4342-B048-85BDC9FD1C3A}</a:tableStyleId>
              </a:tblPr>
              <a:tblGrid>
                <a:gridCol w="1955222"/>
                <a:gridCol w="9694603"/>
              </a:tblGrid>
              <a:tr h="2466075">
                <a:tc>
                  <a:txBody>
                    <a:bodyPr/>
                    <a:lstStyle/>
                    <a:p>
                      <a:pPr algn="ctr">
                        <a:buNone/>
                      </a:pPr>
                      <a:r>
                        <a:rPr b="1">
                          <a:solidFill>
                            <a:schemeClr val="bg1"/>
                          </a:solidFill>
                        </a:rPr>
                        <a:t>차별성</a:t>
                      </a:r>
                      <a:endParaRPr b="1">
                        <a:solidFill>
                          <a:schemeClr val="bg1"/>
                        </a:solidFill>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lvl="0" indent="0" algn="just">
                        <a:spcBef>
                          <a:spcPts val="0"/>
                        </a:spcBef>
                        <a:spcAft>
                          <a:spcPts val="0"/>
                        </a:spcAft>
                        <a:buNone/>
                      </a:pPr>
                      <a:r>
                        <a:rPr sz="1800" b="0">
                          <a:solidFill>
                            <a:srgbClr val="111111"/>
                          </a:solidFill>
                          <a:latin typeface="맑은 고딕"/>
                          <a:ea typeface="맑은 고딕"/>
                          <a:cs typeface="맑은 고딕"/>
                        </a:rPr>
                        <a:t>관광지 검색에서 끝나지 않고 실제 여행상품 기획·일정·견적·다채널 홍보 산출물에 동일 데이터를 연결한다. KTO 성공 데이터에만 출처와 활용 필드를 노출하고 fallback은 기본 데이터로 명확히 구분한다. AI 출력은 구조 검증과 안전한 문구 fallback을 거치며 자동 확정·발행하지 않는다. 심사위원은 로그인 없이 공개 URL에서 제주 상품 생성 전 과정을 재현할 수 있다.</a:t>
                      </a:r>
                      <a:endParaRPr sz="1800" b="0">
                        <a:solidFill>
                          <a:srgbClr val="FF0000"/>
                        </a:solidFill>
                        <a:latin typeface="+mn-lt"/>
                        <a:ea typeface="+mn-lt"/>
                        <a:cs typeface="+mn-lt"/>
                      </a:endParaRP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r h="2608231">
                <a:tc>
                  <a:txBody>
                    <a:bodyPr/>
                    <a:lstStyle/>
                    <a:p>
                      <a:pPr algn="ctr">
                        <a:buNone/>
                      </a:pPr>
                      <a:r>
                        <a:rPr b="1">
                          <a:solidFill>
                            <a:schemeClr val="bg1"/>
                          </a:solidFill>
                        </a:rPr>
                        <a:t>발전계획</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solidFill>
                      <a:srgbClr val="372472"/>
                    </a:solidFill>
                  </a:tcPr>
                </a:tc>
                <a:tc>
                  <a:txBody>
                    <a:bodyPr/>
                    <a:lstStyle/>
                    <a:p>
                      <a:pPr marL="0" marR="0" lvl="0" indent="0" algn="just" defTabSz="914400">
                        <a:lnSpc>
                          <a:spcPct val="100000"/>
                        </a:lnSpc>
                        <a:spcBef>
                          <a:spcPts val="0"/>
                        </a:spcBef>
                        <a:spcAft>
                          <a:spcPts val="0"/>
                        </a:spcAft>
                        <a:buClrTx/>
                        <a:buSzTx/>
                        <a:buFontTx/>
                        <a:buNone/>
                      </a:pPr>
                      <a:r>
                        <a:rPr sz="1800">
                          <a:solidFill>
                            <a:srgbClr val="111111"/>
                          </a:solidFill>
                          <a:latin typeface="맑은 고딕"/>
                          <a:ea typeface="맑은 고딕"/>
                          <a:cs typeface="맑은 고딕"/>
                        </a:rPr>
                        <a:t>① KTO 상세정보·행사·숙박·음식점 API로 근거 범위를 확장한다. ② 협력사 실제 단가와 객실·차량 수배 정보를 연결해 견적 정확도를 높인다. ③ 팀 검토 이력·권한·버전 관리를 추가한다. ④ 접근성·다국어·지역사업자 공동기획 기능을 단계적으로 검증한다. ⑤ 실제 여행사 업무에서 기획 리드타임과 수정 횟수를 측정해 추천·검토 품질을 개선한다.</a:t>
                      </a:r>
                    </a:p>
                  </a:txBody>
                  <a:tcPr marL="91440" marR="91440" marT="45720" marB="45720" anchor="ctr">
                    <a:lnL w="12700" cmpd="sng">
                      <a:solidFill>
                        <a:schemeClr val="bg1">
                          <a:lumMod val="85000"/>
                        </a:schemeClr>
                      </a:solidFill>
                      <a:prstDash val="solid"/>
                    </a:lnL>
                    <a:lnR w="12700" cmpd="sng">
                      <a:solidFill>
                        <a:schemeClr val="bg1">
                          <a:lumMod val="85000"/>
                        </a:schemeClr>
                      </a:solidFill>
                      <a:prstDash val="solid"/>
                    </a:lnR>
                    <a:lnT w="12700" cmpd="sng">
                      <a:solidFill>
                        <a:schemeClr val="bg1">
                          <a:lumMod val="85000"/>
                        </a:schemeClr>
                      </a:solidFill>
                      <a:prstDash val="solid"/>
                    </a:lnT>
                    <a:lnB w="12700" cmpd="sng">
                      <a:solidFill>
                        <a:schemeClr val="bg1">
                          <a:lumMod val="85000"/>
                        </a:schemeClr>
                      </a:solidFill>
                      <a:prstDash val="solid"/>
                    </a:lnB>
                    <a:noFill/>
                  </a:tcPr>
                </a:tc>
              </a:tr>
            </a:tbl>
          </a:graphicData>
        </a:graphic>
      </p:graphicFrame>
    </p:spTree>
    <p:extLst>
      <p:ext uri="{BB962C8B-B14F-4D97-AF65-F5344CB8AC3E}">
        <p14:creationId xmlns:p14="http://schemas.microsoft.com/office/powerpoint/2010/main" val="3988568962"/>
      </p:ext>
    </p:extLst>
  </p:cSld>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2026-08-12T07:48:57.3420000Z</dcterms:created>
  <dcterms:modified xsi:type="dcterms:W3CDTF">2026-08-12T07:48:57.3420000Z</dcterms:modified>
</coreProperties>
</file>